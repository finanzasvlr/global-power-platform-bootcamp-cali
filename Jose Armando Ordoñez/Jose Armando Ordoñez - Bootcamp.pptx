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8" r:id="rId5"/>
    <p:sldMasterId id="2147483660" r:id="rId6"/>
    <p:sldMasterId id="2147483681" r:id="rId7"/>
  </p:sldMasterIdLst>
  <p:notesMasterIdLst>
    <p:notesMasterId r:id="rId17"/>
  </p:notesMasterIdLst>
  <p:sldIdLst>
    <p:sldId id="271" r:id="rId8"/>
    <p:sldId id="256" r:id="rId9"/>
    <p:sldId id="262" r:id="rId10"/>
    <p:sldId id="2147473436" r:id="rId11"/>
    <p:sldId id="2147473437" r:id="rId12"/>
    <p:sldId id="2147473438" r:id="rId13"/>
    <p:sldId id="2147473439" r:id="rId14"/>
    <p:sldId id="2147473440" r:id="rId15"/>
    <p:sldId id="2147473441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2944"/>
    <a:srgbClr val="EA0763"/>
    <a:srgbClr val="742575"/>
    <a:srgbClr val="D482D4"/>
    <a:srgbClr val="953395"/>
    <a:srgbClr val="5C5CEE"/>
    <a:srgbClr val="8D2C85"/>
    <a:srgbClr val="FFFFFF"/>
    <a:srgbClr val="0099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E855C-E00F-48F2-BBFE-4649A43B6E9B}" v="176" dt="2026-01-20T13:53:12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693D3-FED4-45AC-ABCA-50F84360218B}" type="datetimeFigureOut">
              <a:rPr lang="es-CO" smtClean="0"/>
              <a:t>18/02/2026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30542-D5C0-43EE-93EA-971FF8A00B05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228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.bin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2EDB00-6B14-790F-60B8-B8847DD3B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14530" y="3994485"/>
            <a:ext cx="5639219" cy="465220"/>
          </a:xfrm>
        </p:spPr>
        <p:txBody>
          <a:bodyPr>
            <a:normAutofit/>
          </a:bodyPr>
          <a:lstStyle>
            <a:lvl1pPr marL="0" indent="0" algn="just">
              <a:buNone/>
              <a:defRPr sz="2800" b="1" cap="none" baseline="0">
                <a:solidFill>
                  <a:srgbClr val="95339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y apellidos</a:t>
            </a:r>
            <a:endParaRPr lang="es-CO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C5D051E-973C-CBAF-C279-B1A0973E1CF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14950" y="4507083"/>
            <a:ext cx="5638800" cy="81915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Título conferencia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2D77BF-898D-F3B3-B322-BE7D7CB16537}"/>
              </a:ext>
            </a:extLst>
          </p:cNvPr>
          <p:cNvSpPr txBox="1"/>
          <p:nvPr userDrawn="1"/>
        </p:nvSpPr>
        <p:spPr>
          <a:xfrm>
            <a:off x="5233871" y="795013"/>
            <a:ext cx="67739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srgbClr val="322944"/>
                </a:solidFill>
              </a:rPr>
              <a:t>Global Power Platform Bootcamp 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es-CO" sz="4000" b="1" kern="1200" dirty="0" err="1">
                <a:solidFill>
                  <a:srgbClr val="322944"/>
                </a:solidFill>
                <a:latin typeface="+mn-lt"/>
                <a:ea typeface="+mn-ea"/>
                <a:cs typeface="+mn-cs"/>
              </a:rPr>
              <a:t>Agent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 Bootcamp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322944"/>
                </a:solidFill>
              </a:rPr>
              <a:t>2026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953395"/>
                </a:solidFill>
              </a:rPr>
              <a:t>Cali – </a:t>
            </a:r>
            <a:r>
              <a:rPr lang="es-ES" sz="4400" b="1" dirty="0">
                <a:solidFill>
                  <a:srgbClr val="8D2C85"/>
                </a:solidFill>
              </a:rPr>
              <a:t>Colombia</a:t>
            </a:r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D08DDF61-A76E-7EBA-22E8-A00D63735A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B19861-4EF2-D702-86B3-03C1692301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D8C430A-D218-4A67-2D13-984DD5258D9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BF3B30F3-4ECB-E488-3A4E-555626FC17F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60D214F6-1D73-9AEF-6359-F0BFD752A863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726250B-6011-E979-C360-B8ABE25185FA}"/>
              </a:ext>
            </a:extLst>
          </p:cNvPr>
          <p:cNvGrpSpPr/>
          <p:nvPr userDrawn="1"/>
        </p:nvGrpSpPr>
        <p:grpSpPr>
          <a:xfrm>
            <a:off x="-1314067" y="-871221"/>
            <a:ext cx="6157239" cy="6833190"/>
            <a:chOff x="-1314067" y="-871221"/>
            <a:chExt cx="6157239" cy="6833190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D71211F1-FCC0-10F3-97AE-31B000AC2C2E}"/>
                </a:ext>
              </a:extLst>
            </p:cNvPr>
            <p:cNvGrpSpPr/>
            <p:nvPr userDrawn="1"/>
          </p:nvGrpSpPr>
          <p:grpSpPr>
            <a:xfrm>
              <a:off x="-1314067" y="-871221"/>
              <a:ext cx="6157239" cy="6833190"/>
              <a:chOff x="-1314067" y="-871221"/>
              <a:chExt cx="6157239" cy="6833190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44790864-0B45-7731-35ED-700E5F5A6E5F}"/>
                  </a:ext>
                </a:extLst>
              </p:cNvPr>
              <p:cNvGrpSpPr/>
              <p:nvPr userDrawn="1"/>
            </p:nvGrpSpPr>
            <p:grpSpPr>
              <a:xfrm>
                <a:off x="1946045" y="3032592"/>
                <a:ext cx="2880000" cy="2880000"/>
                <a:chOff x="1946045" y="3032592"/>
                <a:chExt cx="2880000" cy="2880000"/>
              </a:xfrm>
            </p:grpSpPr>
            <p:sp>
              <p:nvSpPr>
                <p:cNvPr id="15" name="Círculo: vacío 14">
                  <a:extLst>
                    <a:ext uri="{FF2B5EF4-FFF2-40B4-BE49-F238E27FC236}">
                      <a16:creationId xmlns:a16="http://schemas.microsoft.com/office/drawing/2014/main" id="{1173793B-9F95-2534-CBC0-A4E02800B101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1946045" y="3032592"/>
                  <a:ext cx="2880000" cy="2880000"/>
                </a:xfrm>
                <a:prstGeom prst="donut">
                  <a:avLst>
                    <a:gd name="adj" fmla="val 3109"/>
                  </a:avLst>
                </a:prstGeom>
                <a:solidFill>
                  <a:srgbClr val="D482D4"/>
                </a:solidFill>
                <a:ln>
                  <a:solidFill>
                    <a:srgbClr val="D482D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2D7C4DB7-F74A-B5F4-E00E-61D05F15EB73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2125209" y="3212592"/>
                  <a:ext cx="2520000" cy="2520000"/>
                </a:xfrm>
                <a:prstGeom prst="ellipse">
                  <a:avLst/>
                </a:prstGeom>
                <a:solidFill>
                  <a:srgbClr val="73277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sz="1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0D32131C-5264-1FD4-2E0F-C7BB2736CF8A}"/>
                  </a:ext>
                </a:extLst>
              </p:cNvPr>
              <p:cNvGrpSpPr/>
              <p:nvPr userDrawn="1"/>
            </p:nvGrpSpPr>
            <p:grpSpPr>
              <a:xfrm>
                <a:off x="-1314067" y="-871221"/>
                <a:ext cx="6157239" cy="6833190"/>
                <a:chOff x="-1314067" y="-871221"/>
                <a:chExt cx="6157239" cy="6833190"/>
              </a:xfrm>
            </p:grpSpPr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FC168ABD-D50E-5DB5-A317-E0042D35C369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-1314067" y="-871221"/>
                  <a:ext cx="5638801" cy="5638801"/>
                </a:xfrm>
                <a:prstGeom prst="ellipse">
                  <a:avLst/>
                </a:prstGeom>
                <a:solidFill>
                  <a:srgbClr val="732773"/>
                </a:solidFill>
                <a:ln w="76200">
                  <a:solidFill>
                    <a:srgbClr val="95339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4" name="Arco de bloque 3">
                  <a:extLst>
                    <a:ext uri="{FF2B5EF4-FFF2-40B4-BE49-F238E27FC236}">
                      <a16:creationId xmlns:a16="http://schemas.microsoft.com/office/drawing/2014/main" id="{D538EB75-0820-58A2-4B05-2545042F83A3}"/>
                    </a:ext>
                  </a:extLst>
                </p:cNvPr>
                <p:cNvSpPr/>
                <p:nvPr userDrawn="1"/>
              </p:nvSpPr>
              <p:spPr>
                <a:xfrm rot="18967608">
                  <a:off x="1960861" y="3021453"/>
                  <a:ext cx="2882311" cy="2940516"/>
                </a:xfrm>
                <a:prstGeom prst="blockArc">
                  <a:avLst>
                    <a:gd name="adj1" fmla="val 13112588"/>
                    <a:gd name="adj2" fmla="val 20318267"/>
                    <a:gd name="adj3" fmla="val 2874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4B2848BE-2229-5561-A401-DB33FF964DAF}"/>
                </a:ext>
              </a:extLst>
            </p:cNvPr>
            <p:cNvSpPr/>
            <p:nvPr userDrawn="1"/>
          </p:nvSpPr>
          <p:spPr>
            <a:xfrm>
              <a:off x="376505" y="3877083"/>
              <a:ext cx="1260000" cy="1260000"/>
            </a:xfrm>
            <a:prstGeom prst="flowChartConnector">
              <a:avLst/>
            </a:prstGeom>
            <a:solidFill>
              <a:schemeClr val="bg1"/>
            </a:solidFill>
            <a:ln w="57150">
              <a:solidFill>
                <a:srgbClr val="D482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67A6129C-038B-26D7-14C0-C50A21ADADA6}"/>
              </a:ext>
            </a:extLst>
          </p:cNvPr>
          <p:cNvSpPr>
            <a:spLocks noGrp="1" noChangeAspect="1"/>
          </p:cNvSpPr>
          <p:nvPr userDrawn="1">
            <p:ph type="pic" sz="quarter" idx="11" hasCustomPrompt="1"/>
          </p:nvPr>
        </p:nvSpPr>
        <p:spPr>
          <a:xfrm>
            <a:off x="416669" y="3900535"/>
            <a:ext cx="1188000" cy="1188000"/>
          </a:xfrm>
          <a:prstGeom prst="ellipse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CO" dirty="0"/>
              <a:t>Bandera</a:t>
            </a:r>
          </a:p>
        </p:txBody>
      </p:sp>
      <p:sp>
        <p:nvSpPr>
          <p:cNvPr id="28" name="Marcador de texto 19">
            <a:extLst>
              <a:ext uri="{FF2B5EF4-FFF2-40B4-BE49-F238E27FC236}">
                <a16:creationId xmlns:a16="http://schemas.microsoft.com/office/drawing/2014/main" id="{33F2AF21-E9B0-8E50-385C-DFB9C6391C8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34346" y="3334685"/>
            <a:ext cx="744318" cy="433065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s-CO" dirty="0"/>
              <a:t>País</a:t>
            </a:r>
          </a:p>
        </p:txBody>
      </p:sp>
      <p:sp>
        <p:nvSpPr>
          <p:cNvPr id="30" name="Arco de bloque 29">
            <a:extLst>
              <a:ext uri="{FF2B5EF4-FFF2-40B4-BE49-F238E27FC236}">
                <a16:creationId xmlns:a16="http://schemas.microsoft.com/office/drawing/2014/main" id="{8CBD0B38-8659-331B-6939-A26113C99371}"/>
              </a:ext>
            </a:extLst>
          </p:cNvPr>
          <p:cNvSpPr/>
          <p:nvPr userDrawn="1"/>
        </p:nvSpPr>
        <p:spPr>
          <a:xfrm rot="20681271">
            <a:off x="285683" y="3783243"/>
            <a:ext cx="1450230" cy="1437071"/>
          </a:xfrm>
          <a:prstGeom prst="blockArc">
            <a:avLst>
              <a:gd name="adj1" fmla="val 12012441"/>
              <a:gd name="adj2" fmla="val 1986272"/>
              <a:gd name="adj3" fmla="val 18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3B429F8-9E7C-FCBE-46DB-8C84595F1A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80" t="-15352" r="-14151" b="-13578"/>
          <a:stretch/>
        </p:blipFill>
        <p:spPr>
          <a:xfrm>
            <a:off x="184168" y="556029"/>
            <a:ext cx="2642331" cy="2784301"/>
          </a:xfrm>
          <a:prstGeom prst="flowChartConnector">
            <a:avLst/>
          </a:prstGeom>
          <a:ln w="28575">
            <a:solidFill>
              <a:schemeClr val="bg1"/>
            </a:solidFill>
          </a:ln>
        </p:spPr>
      </p:pic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928D84E9-74D7-A2BC-D763-70FE1A5977E0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215209" y="3302592"/>
            <a:ext cx="2340000" cy="234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Foto conferencista</a:t>
            </a:r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99DA376-7D99-1255-23AF-B2687D81245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7E198C2D-75F3-250E-E58E-216BC3E955F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31" name="Imagen 30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5CB6AC4-3D14-2A74-5B1A-6F61AC8178C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026" name="Picture 2" descr="All Microsoft Fabric icons for diagramming - Sam Debruyn">
            <a:extLst>
              <a:ext uri="{FF2B5EF4-FFF2-40B4-BE49-F238E27FC236}">
                <a16:creationId xmlns:a16="http://schemas.microsoft.com/office/drawing/2014/main" id="{25ABA0D7-A5EF-89B2-8335-ACDF43371B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n 32" descr="Forma&#10;&#10;El contenido generado por IA puede ser incorrecto.">
            <a:extLst>
              <a:ext uri="{FF2B5EF4-FFF2-40B4-BE49-F238E27FC236}">
                <a16:creationId xmlns:a16="http://schemas.microsoft.com/office/drawing/2014/main" id="{82911D1B-2005-3F7A-9D1A-9AAB88F5D1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1660DFDC-AA6D-4D20-4351-C319B9E6FC6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36" name="Imagen 35" descr="Icono&#10;&#10;El contenido generado por IA puede ser incorrecto.">
            <a:extLst>
              <a:ext uri="{FF2B5EF4-FFF2-40B4-BE49-F238E27FC236}">
                <a16:creationId xmlns:a16="http://schemas.microsoft.com/office/drawing/2014/main" id="{68826612-BB48-1CB0-C0FD-73AB52610C8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9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2F8F2-3DDF-E5A5-29C3-F0089FA56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19363"/>
            <a:ext cx="10515600" cy="1819275"/>
          </a:xfrm>
        </p:spPr>
        <p:txBody>
          <a:bodyPr anchor="ctr">
            <a:normAutofit/>
          </a:bodyPr>
          <a:lstStyle>
            <a:lvl1pPr algn="ctr">
              <a:defRPr sz="5000" cap="none" baseline="0">
                <a:solidFill>
                  <a:srgbClr val="8D2C85"/>
                </a:solidFill>
              </a:defRPr>
            </a:lvl1pPr>
          </a:lstStyle>
          <a:p>
            <a:r>
              <a:rPr lang="es-ES" dirty="0"/>
              <a:t>Título de sección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E66FFC-A4F4-3502-DB24-F8AE329E1D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Notas del título de la sección (opcional)</a:t>
            </a:r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CAB225A8-750F-F70D-840E-61DF2940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5" name="Graphic 8">
            <a:extLst>
              <a:ext uri="{FF2B5EF4-FFF2-40B4-BE49-F238E27FC236}">
                <a16:creationId xmlns:a16="http://schemas.microsoft.com/office/drawing/2014/main" id="{05827EE4-6A9A-09DA-59F6-31992FD7C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6" name="Graphic 9">
            <a:extLst>
              <a:ext uri="{FF2B5EF4-FFF2-40B4-BE49-F238E27FC236}">
                <a16:creationId xmlns:a16="http://schemas.microsoft.com/office/drawing/2014/main" id="{2DE8211E-EE30-F534-63E7-2E923AC0AC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910D376C-3831-0059-638E-DF82AF4E14A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3" name="Freeform 10">
            <a:extLst>
              <a:ext uri="{FF2B5EF4-FFF2-40B4-BE49-F238E27FC236}">
                <a16:creationId xmlns:a16="http://schemas.microsoft.com/office/drawing/2014/main" id="{9F195A82-8B0F-5226-6CF1-A1970D9E2720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4" name="Imagen 13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5353824B-E6AD-B76C-3AAF-D86A828CF7D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FEC94C27-CE10-8460-70B4-DDBFA806279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6" name="Imagen 1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EAC62F7-36E0-1AF0-869F-2BD092ED156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7" name="Picture 2" descr="All Microsoft Fabric icons for diagramming - Sam Debruyn">
            <a:extLst>
              <a:ext uri="{FF2B5EF4-FFF2-40B4-BE49-F238E27FC236}">
                <a16:creationId xmlns:a16="http://schemas.microsoft.com/office/drawing/2014/main" id="{90B61367-66A5-C9AB-1331-BE5D7166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 descr="Forma&#10;&#10;El contenido generado por IA puede ser incorrecto.">
            <a:extLst>
              <a:ext uri="{FF2B5EF4-FFF2-40B4-BE49-F238E27FC236}">
                <a16:creationId xmlns:a16="http://schemas.microsoft.com/office/drawing/2014/main" id="{21527C8D-E6AF-D1A7-5F25-F0B041AA07C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543D8BA-8B1B-9085-C92E-A44FD7CE8E6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51B60A17-DEA6-0AA3-E243-08F228805B5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5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tall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49850-5089-D3D8-A470-19E28E43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-1"/>
            <a:ext cx="11823032" cy="1116000"/>
          </a:xfrm>
        </p:spPr>
        <p:txBody>
          <a:bodyPr>
            <a:normAutofit/>
          </a:bodyPr>
          <a:lstStyle>
            <a:lvl1pPr>
              <a:defRPr sz="3000" cap="none" baseline="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4205749-CEE3-B61D-52E2-2057C35CE8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5" y="1267326"/>
            <a:ext cx="11823032" cy="47159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3" name="Graphic 6">
            <a:extLst>
              <a:ext uri="{FF2B5EF4-FFF2-40B4-BE49-F238E27FC236}">
                <a16:creationId xmlns:a16="http://schemas.microsoft.com/office/drawing/2014/main" id="{5961EE2D-95FC-677E-C029-B035D6E764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13" name="Graphic 8">
            <a:extLst>
              <a:ext uri="{FF2B5EF4-FFF2-40B4-BE49-F238E27FC236}">
                <a16:creationId xmlns:a16="http://schemas.microsoft.com/office/drawing/2014/main" id="{124C64BA-A93F-0D7B-D84B-63B959847B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4" name="Graphic 9">
            <a:extLst>
              <a:ext uri="{FF2B5EF4-FFF2-40B4-BE49-F238E27FC236}">
                <a16:creationId xmlns:a16="http://schemas.microsoft.com/office/drawing/2014/main" id="{43D82821-B4F0-C424-AFF6-9A711E51A1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5" name="Graphic 12">
            <a:extLst>
              <a:ext uri="{FF2B5EF4-FFF2-40B4-BE49-F238E27FC236}">
                <a16:creationId xmlns:a16="http://schemas.microsoft.com/office/drawing/2014/main" id="{26C833CA-E946-12DC-1143-3208DC5FFF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6" name="Freeform 10">
            <a:extLst>
              <a:ext uri="{FF2B5EF4-FFF2-40B4-BE49-F238E27FC236}">
                <a16:creationId xmlns:a16="http://schemas.microsoft.com/office/drawing/2014/main" id="{C68A1FAD-68F4-473B-2115-6988297DF0EB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141494B-0989-6582-24E3-CDE9050B26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B3EDB7D0-F48B-F921-CF58-3D397BA26FF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9" name="Imagen 18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14E955F-5266-9214-7917-F1BBB7EE6CD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20" name="Picture 2" descr="All Microsoft Fabric icons for diagramming - Sam Debruyn">
            <a:extLst>
              <a:ext uri="{FF2B5EF4-FFF2-40B4-BE49-F238E27FC236}">
                <a16:creationId xmlns:a16="http://schemas.microsoft.com/office/drawing/2014/main" id="{1978A1C9-AF8C-A3BB-978F-C276AA106C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n 20" descr="Forma&#10;&#10;El contenido generado por IA puede ser incorrecto.">
            <a:extLst>
              <a:ext uri="{FF2B5EF4-FFF2-40B4-BE49-F238E27FC236}">
                <a16:creationId xmlns:a16="http://schemas.microsoft.com/office/drawing/2014/main" id="{E13BE7CB-2630-0BFA-3B1E-B70E12DA871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B86631CA-56B5-B179-AB89-67E764DE3B2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552CF5E5-5D11-9788-EFA4-FA6DF9CEA0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9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rocinado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E4BD0B7-3691-353C-37DB-CB7638E9C94A}"/>
              </a:ext>
            </a:extLst>
          </p:cNvPr>
          <p:cNvSpPr txBox="1"/>
          <p:nvPr userDrawn="1"/>
        </p:nvSpPr>
        <p:spPr>
          <a:xfrm>
            <a:off x="421870" y="418230"/>
            <a:ext cx="105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8D2C85"/>
                </a:solidFill>
              </a:rPr>
              <a:t>Con el apoyo de:</a:t>
            </a:r>
            <a:endParaRPr lang="es-CO" sz="3600" b="1" dirty="0">
              <a:solidFill>
                <a:srgbClr val="8D2C85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D24F70-330F-250E-A77F-C248EB8C9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CACE6E-500F-2563-6BC8-8CAC03D64A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D7E2AA9-A172-0F4C-9BB1-87F02DCC3B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5DCA55E7-684B-5284-A865-A81B6DF4A9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83D06628-6AF1-CECA-487B-9CCAEAE5830A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Imagen 12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327D5E50-80B4-CDCD-4B81-913D6EA358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4A60ACAA-0936-B469-2CAF-AC6034BD808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5" name="Imagen 1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583E543-E19A-E9CB-F438-DD411EF1C5B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6" name="Picture 2" descr="All Microsoft Fabric icons for diagramming - Sam Debruyn">
            <a:extLst>
              <a:ext uri="{FF2B5EF4-FFF2-40B4-BE49-F238E27FC236}">
                <a16:creationId xmlns:a16="http://schemas.microsoft.com/office/drawing/2014/main" id="{320360EA-9FA5-7BC6-2828-F6ADC79626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 descr="Forma&#10;&#10;El contenido generado por IA puede ser incorrecto.">
            <a:extLst>
              <a:ext uri="{FF2B5EF4-FFF2-40B4-BE49-F238E27FC236}">
                <a16:creationId xmlns:a16="http://schemas.microsoft.com/office/drawing/2014/main" id="{CAA047B6-CC26-2237-68F5-B564C8ECACA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7F6ECC1C-4F3B-4A4C-FB50-FEE86CB8EF8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30B91F7D-E56F-B57A-3606-1A5C08BD25F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81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1" y="1349865"/>
            <a:ext cx="11374345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1" y="2208628"/>
            <a:ext cx="11374345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7E20350-AF53-5348-8C67-42245505E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4306" cy="6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6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89" y="-42204"/>
            <a:ext cx="12340956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5" y="395159"/>
            <a:ext cx="1242594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1" y="2208628"/>
            <a:ext cx="11374345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89" y="1069699"/>
            <a:ext cx="7556694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1" y="1321729"/>
            <a:ext cx="7054439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E549399-5401-6443-BDC4-AAEAB39C1C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0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6001" y="-126611"/>
            <a:ext cx="6202367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7162" y="6315758"/>
            <a:ext cx="7811206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7358" y="6484019"/>
            <a:ext cx="1428838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50225" y="6484019"/>
            <a:ext cx="4184051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0AA22C5-96DD-B846-85FB-E8B3DC973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4306" cy="6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0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-36171" y="-126611"/>
            <a:ext cx="6202367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EFD37E-104C-0548-B3F4-15247384D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0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6125" y="1005875"/>
            <a:ext cx="6174500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7681" y="1349866"/>
            <a:ext cx="5459687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46AA1F-CD74-AB4E-B844-4B601751E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3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6000" y="-136525"/>
            <a:ext cx="6236371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84756FF-4086-4A43-984F-09800BF06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4306" cy="615600"/>
          </a:xfrm>
          <a:prstGeom prst="rect">
            <a:avLst/>
          </a:prstGeom>
        </p:spPr>
      </p:pic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8394" y="-136526"/>
            <a:ext cx="6233976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997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89" y="-42204"/>
            <a:ext cx="12340956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5" y="395159"/>
            <a:ext cx="1242594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1" y="2208628"/>
            <a:ext cx="11374345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1673" y="1069699"/>
            <a:ext cx="7556694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800" y="1321729"/>
            <a:ext cx="6686425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C0086D-53D7-484D-B608-4C6D657045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98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89" y="-42204"/>
            <a:ext cx="12340956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5" y="395159"/>
            <a:ext cx="1242594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1" y="3254928"/>
            <a:ext cx="11374345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89" y="2118962"/>
            <a:ext cx="7556694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0" y="1373928"/>
            <a:ext cx="11374345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665" y="2372797"/>
            <a:ext cx="6955940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Subtítulo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5C9FA3AC-94C2-8742-94CF-B6A5D9C3EB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5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74" y="-123191"/>
            <a:ext cx="606630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80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901" y="-136525"/>
            <a:ext cx="606583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9818" y="1349865"/>
            <a:ext cx="5576946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9818" y="2208628"/>
            <a:ext cx="5576946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74" y="6132881"/>
            <a:ext cx="7556694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9ED6-4044-FC4A-9B9B-3EA7CA37D2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1CA5A-788D-284E-BC3F-042132CB50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716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1" y="-125413"/>
            <a:ext cx="12320621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80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20620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865" y="2236765"/>
            <a:ext cx="5878707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865" y="1006291"/>
            <a:ext cx="5878707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9271" y="1349865"/>
            <a:ext cx="5059482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9271" y="2518119"/>
            <a:ext cx="5059482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4172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-161925"/>
            <a:ext cx="6242088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82" y="2208628"/>
            <a:ext cx="5576946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3263" y="6132881"/>
            <a:ext cx="6963959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21563-73B4-4549-8911-B0D06CF34F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881828" y="6399613"/>
            <a:ext cx="1428838" cy="251105"/>
          </a:xfrm>
        </p:spPr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69D2ECD-4E9B-8545-AF6B-FC8377A57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94695" y="6399613"/>
            <a:ext cx="4184051" cy="251105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678CDED-27A5-5943-9F6B-EA131C288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70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89" y="-42204"/>
            <a:ext cx="12340956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 sz="180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665" y="395159"/>
            <a:ext cx="1242594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81" y="1321729"/>
            <a:ext cx="7054439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532BBA7-286A-444A-9D99-EF029176E4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663" y="235458"/>
            <a:ext cx="1471055" cy="6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96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09E5-2CCD-BB20-C2ED-9E3A0A5E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61957-85D0-8C39-D981-166B6796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4BC1-0FF5-A312-324A-2396E97E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589E1-299F-6F4B-99CA-663A9EE6B4EC}" type="datetimeFigureOut">
              <a:rPr lang="es-ES_tradnl" smtClean="0"/>
              <a:t>18/02/2026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014B-D90D-1125-B2DD-264F30BC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7E6C-1B1A-8043-0A96-BC976C59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ED16-AFEF-744F-B3C5-3A15CEDEE76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4187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4528" y="373604"/>
            <a:ext cx="11375136" cy="6096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4528" y="1465689"/>
            <a:ext cx="11375136" cy="48280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0928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3" y="6519011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3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5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0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3 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FFABA2D-35F6-4470-94AA-35F4AC5F38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050840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FFABA2D-35F6-4470-94AA-35F4AC5F3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1906CB8-D410-427D-80C1-C7AD90ED1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3"/>
            <a:ext cx="158751" cy="15875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3199" b="0" i="0" baseline="0">
              <a:latin typeface="Graphik Black" panose="020B0A03030202060203" pitchFamily="34" charset="0"/>
              <a:sym typeface="Graphik Black" panose="020B0A03030202060203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99">
                <a:latin typeface="+mj-lt"/>
              </a:defRPr>
            </a:lvl1pPr>
          </a:lstStyle>
          <a:p>
            <a:r>
              <a:rPr lang="es-E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306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6701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 sz="2666"/>
          </a:p>
        </p:txBody>
      </p:sp>
      <p:sp>
        <p:nvSpPr>
          <p:cNvPr id="3" name="Shape 1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666"/>
          </a:p>
        </p:txBody>
      </p:sp>
    </p:spTree>
    <p:extLst>
      <p:ext uri="{BB962C8B-B14F-4D97-AF65-F5344CB8AC3E}">
        <p14:creationId xmlns:p14="http://schemas.microsoft.com/office/powerpoint/2010/main" val="2764226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a sin logo" preserve="1">
  <p:cSld name="Blanca sin logo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3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93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93"/>
          <p:cNvSpPr txBox="1">
            <a:spLocks noGrp="1"/>
          </p:cNvSpPr>
          <p:nvPr>
            <p:ph type="title"/>
          </p:nvPr>
        </p:nvSpPr>
        <p:spPr>
          <a:xfrm>
            <a:off x="304882" y="1349865"/>
            <a:ext cx="11374345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sz="23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7" name="Google Shape;177;p93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11374345" cy="399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78" name="Google Shape;178;p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4306" cy="61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695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vertical derecha" preserve="1">
  <p:cSld name="Franja vertical derecha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3"/>
          <p:cNvSpPr txBox="1">
            <a:spLocks noGrp="1"/>
          </p:cNvSpPr>
          <p:nvPr>
            <p:ph type="title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200"/>
              <a:buFont typeface="Arial"/>
              <a:buNone/>
              <a:defRPr sz="21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0" name="Google Shape;190;p103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1" name="Google Shape;191;p103"/>
          <p:cNvSpPr/>
          <p:nvPr/>
        </p:nvSpPr>
        <p:spPr>
          <a:xfrm rot="10800000" flipH="1">
            <a:off x="6096002" y="-126611"/>
            <a:ext cx="6202367" cy="7090118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3"/>
          <p:cNvSpPr/>
          <p:nvPr/>
        </p:nvSpPr>
        <p:spPr>
          <a:xfrm rot="10800000" flipH="1">
            <a:off x="4487162" y="6315760"/>
            <a:ext cx="7811206" cy="647749"/>
          </a:xfrm>
          <a:prstGeom prst="rect">
            <a:avLst/>
          </a:prstGeom>
          <a:solidFill>
            <a:srgbClr val="E9683B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3"/>
          <p:cNvSpPr txBox="1">
            <a:spLocks noGrp="1"/>
          </p:cNvSpPr>
          <p:nvPr>
            <p:ph type="dt" idx="10"/>
          </p:nvPr>
        </p:nvSpPr>
        <p:spPr>
          <a:xfrm>
            <a:off x="4737358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03"/>
          <p:cNvSpPr txBox="1">
            <a:spLocks noGrp="1"/>
          </p:cNvSpPr>
          <p:nvPr>
            <p:ph type="ftr" idx="11"/>
          </p:nvPr>
        </p:nvSpPr>
        <p:spPr>
          <a:xfrm>
            <a:off x="6450226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4306" cy="61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57192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vertical izquierda" preserve="1">
  <p:cSld name="Franja vertical izquierda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4"/>
          <p:cNvSpPr/>
          <p:nvPr/>
        </p:nvSpPr>
        <p:spPr>
          <a:xfrm rot="10800000" flipH="1">
            <a:off x="-36170" y="-126611"/>
            <a:ext cx="6202367" cy="7090118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4"/>
          <p:cNvSpPr txBox="1">
            <a:spLocks noGrp="1"/>
          </p:cNvSpPr>
          <p:nvPr>
            <p:ph type="title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1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9" name="Google Shape;199;p104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200" name="Google Shape;20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54320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zul completo" preserve="1">
  <p:cSld name="Azul completo">
    <p:bg>
      <p:bgPr>
        <a:solidFill>
          <a:srgbClr val="5454E9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5"/>
          <p:cNvSpPr/>
          <p:nvPr/>
        </p:nvSpPr>
        <p:spPr>
          <a:xfrm>
            <a:off x="6006125" y="1005877"/>
            <a:ext cx="6174500" cy="9917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5"/>
          <p:cNvSpPr txBox="1">
            <a:spLocks noGrp="1"/>
          </p:cNvSpPr>
          <p:nvPr>
            <p:ph type="title"/>
          </p:nvPr>
        </p:nvSpPr>
        <p:spPr>
          <a:xfrm>
            <a:off x="6247682" y="1349868"/>
            <a:ext cx="5459687" cy="36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204" name="Google Shape;204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774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vertical con foto" preserve="1">
  <p:cSld name="Franja vertical con foto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6"/>
          <p:cNvSpPr/>
          <p:nvPr/>
        </p:nvSpPr>
        <p:spPr>
          <a:xfrm>
            <a:off x="6096001" y="-136525"/>
            <a:ext cx="6236371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6"/>
          <p:cNvSpPr txBox="1">
            <a:spLocks noGrp="1"/>
          </p:cNvSpPr>
          <p:nvPr>
            <p:ph type="title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sz="23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8" name="Google Shape;208;p106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5576946" cy="399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209" name="Google Shape;209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4306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6"/>
          <p:cNvSpPr>
            <a:spLocks noGrp="1"/>
          </p:cNvSpPr>
          <p:nvPr>
            <p:ph type="pic" idx="2"/>
          </p:nvPr>
        </p:nvSpPr>
        <p:spPr>
          <a:xfrm>
            <a:off x="6098395" y="-136526"/>
            <a:ext cx="6233976" cy="7101205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215255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azul y franja verde" preserve="1">
  <p:cSld name="Franja azul y franja ver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7"/>
          <p:cNvSpPr/>
          <p:nvPr/>
        </p:nvSpPr>
        <p:spPr>
          <a:xfrm>
            <a:off x="-42589" y="-42204"/>
            <a:ext cx="12340956" cy="1111903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7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07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5" name="Google Shape;215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5" y="395161"/>
            <a:ext cx="1242594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7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11374345" cy="399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7" name="Google Shape;217;p107"/>
          <p:cNvSpPr/>
          <p:nvPr/>
        </p:nvSpPr>
        <p:spPr>
          <a:xfrm>
            <a:off x="4741673" y="1069701"/>
            <a:ext cx="7556694" cy="858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7"/>
          <p:cNvSpPr txBox="1">
            <a:spLocks noGrp="1"/>
          </p:cNvSpPr>
          <p:nvPr>
            <p:ph type="title"/>
          </p:nvPr>
        </p:nvSpPr>
        <p:spPr>
          <a:xfrm>
            <a:off x="4992800" y="1321729"/>
            <a:ext cx="6686425" cy="46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3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219" name="Google Shape;219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6490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azul grande y franja amarillo" preserve="1">
  <p:cSld name="Franja azul grande y franja amarill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8"/>
          <p:cNvSpPr/>
          <p:nvPr/>
        </p:nvSpPr>
        <p:spPr>
          <a:xfrm>
            <a:off x="-42589" y="-42204"/>
            <a:ext cx="12340956" cy="2616590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8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08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4" name="Google Shape;224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5" y="395161"/>
            <a:ext cx="1242594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8"/>
          <p:cNvSpPr txBox="1">
            <a:spLocks noGrp="1"/>
          </p:cNvSpPr>
          <p:nvPr>
            <p:ph type="body" idx="1"/>
          </p:nvPr>
        </p:nvSpPr>
        <p:spPr>
          <a:xfrm>
            <a:off x="304882" y="3254928"/>
            <a:ext cx="11374345" cy="294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6" name="Google Shape;226;p108"/>
          <p:cNvSpPr/>
          <p:nvPr/>
        </p:nvSpPr>
        <p:spPr>
          <a:xfrm>
            <a:off x="-42589" y="2118962"/>
            <a:ext cx="7556694" cy="8903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8"/>
          <p:cNvSpPr txBox="1">
            <a:spLocks noGrp="1"/>
          </p:cNvSpPr>
          <p:nvPr>
            <p:ph type="title"/>
          </p:nvPr>
        </p:nvSpPr>
        <p:spPr>
          <a:xfrm>
            <a:off x="304881" y="1373928"/>
            <a:ext cx="11374345" cy="46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3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8" name="Google Shape;228;p108"/>
          <p:cNvSpPr txBox="1">
            <a:spLocks noGrp="1"/>
          </p:cNvSpPr>
          <p:nvPr>
            <p:ph type="body" idx="2"/>
          </p:nvPr>
        </p:nvSpPr>
        <p:spPr>
          <a:xfrm>
            <a:off x="262665" y="2372797"/>
            <a:ext cx="6955940" cy="53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229" name="Google Shape;229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67462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a la izquierda" preserve="1">
  <p:cSld name="Foto a la izquierda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9"/>
          <p:cNvSpPr/>
          <p:nvPr/>
        </p:nvSpPr>
        <p:spPr>
          <a:xfrm>
            <a:off x="-197373" y="-123191"/>
            <a:ext cx="6066303" cy="710120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9"/>
          <p:cNvSpPr>
            <a:spLocks noGrp="1"/>
          </p:cNvSpPr>
          <p:nvPr>
            <p:ph type="pic" idx="2"/>
          </p:nvPr>
        </p:nvSpPr>
        <p:spPr>
          <a:xfrm>
            <a:off x="-196901" y="-136525"/>
            <a:ext cx="6065830" cy="7127875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109"/>
          <p:cNvSpPr txBox="1">
            <a:spLocks noGrp="1"/>
          </p:cNvSpPr>
          <p:nvPr>
            <p:ph type="title"/>
          </p:nvPr>
        </p:nvSpPr>
        <p:spPr>
          <a:xfrm>
            <a:off x="6239818" y="1349865"/>
            <a:ext cx="5576946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54E9"/>
              </a:buClr>
              <a:buSzPts val="2400"/>
              <a:buFont typeface="Arial"/>
              <a:buNone/>
              <a:defRPr sz="23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4" name="Google Shape;234;p109"/>
          <p:cNvSpPr txBox="1">
            <a:spLocks noGrp="1"/>
          </p:cNvSpPr>
          <p:nvPr>
            <p:ph type="body" idx="1"/>
          </p:nvPr>
        </p:nvSpPr>
        <p:spPr>
          <a:xfrm>
            <a:off x="6239818" y="2208628"/>
            <a:ext cx="5576946" cy="368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5" name="Google Shape;235;p109"/>
          <p:cNvSpPr/>
          <p:nvPr/>
        </p:nvSpPr>
        <p:spPr>
          <a:xfrm>
            <a:off x="-197374" y="6132883"/>
            <a:ext cx="7556694" cy="858763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9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09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2812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completa" preserve="1">
  <p:cSld name="Foto completa"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0"/>
          <p:cNvSpPr/>
          <p:nvPr/>
        </p:nvSpPr>
        <p:spPr>
          <a:xfrm>
            <a:off x="2" y="-125413"/>
            <a:ext cx="12320621" cy="7153276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rgbClr val="3787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0"/>
          <p:cNvSpPr>
            <a:spLocks noGrp="1"/>
          </p:cNvSpPr>
          <p:nvPr>
            <p:ph type="pic" idx="2"/>
          </p:nvPr>
        </p:nvSpPr>
        <p:spPr>
          <a:xfrm>
            <a:off x="1" y="-125413"/>
            <a:ext cx="12320620" cy="7153276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110"/>
          <p:cNvSpPr/>
          <p:nvPr/>
        </p:nvSpPr>
        <p:spPr>
          <a:xfrm>
            <a:off x="938865" y="2236765"/>
            <a:ext cx="5878707" cy="43187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0"/>
          <p:cNvSpPr/>
          <p:nvPr/>
        </p:nvSpPr>
        <p:spPr>
          <a:xfrm>
            <a:off x="938865" y="1006291"/>
            <a:ext cx="5878707" cy="1272676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0"/>
          <p:cNvSpPr txBox="1">
            <a:spLocks noGrp="1"/>
          </p:cNvSpPr>
          <p:nvPr>
            <p:ph type="title"/>
          </p:nvPr>
        </p:nvSpPr>
        <p:spPr>
          <a:xfrm>
            <a:off x="1399271" y="1349865"/>
            <a:ext cx="5059482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3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4" name="Google Shape;244;p110"/>
          <p:cNvSpPr txBox="1">
            <a:spLocks noGrp="1"/>
          </p:cNvSpPr>
          <p:nvPr>
            <p:ph type="body" idx="1"/>
          </p:nvPr>
        </p:nvSpPr>
        <p:spPr>
          <a:xfrm>
            <a:off x="1399271" y="2518121"/>
            <a:ext cx="5059482" cy="368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54E9"/>
              </a:buClr>
              <a:buSzPts val="2000"/>
              <a:buFont typeface="Arial"/>
              <a:buNone/>
              <a:defRPr sz="19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800"/>
              <a:buFont typeface="Arial"/>
              <a:buNone/>
              <a:defRPr sz="1799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454E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324360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completa y foto" preserve="1">
  <p:cSld name="Franja completa y foto">
    <p:bg>
      <p:bgPr>
        <a:solidFill>
          <a:srgbClr val="5454E9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1"/>
          <p:cNvSpPr>
            <a:spLocks noGrp="1"/>
          </p:cNvSpPr>
          <p:nvPr>
            <p:ph type="pic" idx="2"/>
          </p:nvPr>
        </p:nvSpPr>
        <p:spPr>
          <a:xfrm>
            <a:off x="6096000" y="-161925"/>
            <a:ext cx="6242088" cy="71532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47" name="Google Shape;247;p111"/>
          <p:cNvSpPr txBox="1">
            <a:spLocks noGrp="1"/>
          </p:cNvSpPr>
          <p:nvPr>
            <p:ph type="title"/>
          </p:nvPr>
        </p:nvSpPr>
        <p:spPr>
          <a:xfrm>
            <a:off x="304882" y="1349865"/>
            <a:ext cx="5576946" cy="64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3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8" name="Google Shape;248;p111"/>
          <p:cNvSpPr txBox="1">
            <a:spLocks noGrp="1"/>
          </p:cNvSpPr>
          <p:nvPr>
            <p:ph type="body" idx="1"/>
          </p:nvPr>
        </p:nvSpPr>
        <p:spPr>
          <a:xfrm>
            <a:off x="304882" y="2208628"/>
            <a:ext cx="5576946" cy="368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063" marR="0" lvl="0" indent="-2285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9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126" marR="0" lvl="1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189" marR="0" lvl="2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251" marR="0" lvl="3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314" marR="0" lvl="4" indent="-22853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2377" marR="0" lvl="5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199440" marR="0" lvl="6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6503" marR="0" lvl="7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3566" marR="0" lvl="8" indent="-34279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9" name="Google Shape;249;p111"/>
          <p:cNvSpPr/>
          <p:nvPr/>
        </p:nvSpPr>
        <p:spPr>
          <a:xfrm>
            <a:off x="5503264" y="6132883"/>
            <a:ext cx="6963959" cy="8587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1"/>
          <p:cNvSpPr txBox="1">
            <a:spLocks noGrp="1"/>
          </p:cNvSpPr>
          <p:nvPr>
            <p:ph type="dt" idx="10"/>
          </p:nvPr>
        </p:nvSpPr>
        <p:spPr>
          <a:xfrm>
            <a:off x="5881828" y="6399615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11"/>
          <p:cNvSpPr txBox="1">
            <a:spLocks noGrp="1"/>
          </p:cNvSpPr>
          <p:nvPr>
            <p:ph type="ftr" idx="11"/>
          </p:nvPr>
        </p:nvSpPr>
        <p:spPr>
          <a:xfrm>
            <a:off x="7594696" y="6399615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2" name="Google Shape;252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27082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nja azul amplia" preserve="1">
  <p:cSld name="Franja azul amplia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2"/>
          <p:cNvSpPr/>
          <p:nvPr/>
        </p:nvSpPr>
        <p:spPr>
          <a:xfrm>
            <a:off x="-42589" y="-42204"/>
            <a:ext cx="12340956" cy="5578475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2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12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7" name="Google Shape;25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665" y="395161"/>
            <a:ext cx="1242594" cy="48291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2"/>
          <p:cNvSpPr txBox="1">
            <a:spLocks noGrp="1"/>
          </p:cNvSpPr>
          <p:nvPr>
            <p:ph type="title"/>
          </p:nvPr>
        </p:nvSpPr>
        <p:spPr>
          <a:xfrm>
            <a:off x="304881" y="1321729"/>
            <a:ext cx="7054439" cy="57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3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799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259" name="Google Shape;259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63" y="235458"/>
            <a:ext cx="1471055" cy="614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10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84F7767-0E1B-0D27-A184-C8E923AAF6FB}"/>
              </a:ext>
            </a:extLst>
          </p:cNvPr>
          <p:cNvSpPr/>
          <p:nvPr userDrawn="1"/>
        </p:nvSpPr>
        <p:spPr>
          <a:xfrm>
            <a:off x="0" y="6011484"/>
            <a:ext cx="12192000" cy="873926"/>
          </a:xfrm>
          <a:prstGeom prst="rect">
            <a:avLst/>
          </a:prstGeom>
          <a:solidFill>
            <a:srgbClr val="D482D4"/>
          </a:solidFill>
          <a:ln>
            <a:solidFill>
              <a:srgbClr val="D482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CA6091-9F8D-B2CD-6FEA-54B5BFF6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72A83-359E-3616-FBE4-223DF689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A229058-9157-25D1-928E-A196F105E3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575352"/>
              </a:clrFrom>
              <a:clrTo>
                <a:srgbClr val="5753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43" y="5974363"/>
            <a:ext cx="2115467" cy="9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1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229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229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229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229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3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7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lvl1pPr algn="ctr" defTabSz="914126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9ED10E-F495-3C40-BD87-A6D700A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80" y="6484019"/>
            <a:ext cx="1428838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454E9"/>
                </a:solidFill>
              </a:defRPr>
            </a:lvl1pPr>
          </a:lstStyle>
          <a:p>
            <a:fld id="{0389DF86-9CF7-644A-ABC2-A5C2ED969516}" type="datetimeFigureOut">
              <a:rPr lang="es-CO" smtClean="0"/>
              <a:pPr/>
              <a:t>18/02/2026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85F37-2003-974A-86AF-3C8EC157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7748" y="6484019"/>
            <a:ext cx="4184051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5454E9"/>
                </a:solidFill>
              </a:defRPr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494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  <p:sldLayoutId id="2147483678" r:id="rId17"/>
    <p:sldLayoutId id="2147483679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>
            <a:alpha val="9803"/>
          </a:schemeClr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2"/>
          <p:cNvSpPr txBox="1">
            <a:spLocks noGrp="1"/>
          </p:cNvSpPr>
          <p:nvPr>
            <p:ph type="dt" idx="10"/>
          </p:nvPr>
        </p:nvSpPr>
        <p:spPr>
          <a:xfrm>
            <a:off x="304880" y="6484021"/>
            <a:ext cx="1428838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92"/>
          <p:cNvSpPr txBox="1">
            <a:spLocks noGrp="1"/>
          </p:cNvSpPr>
          <p:nvPr>
            <p:ph type="ftr" idx="11"/>
          </p:nvPr>
        </p:nvSpPr>
        <p:spPr>
          <a:xfrm>
            <a:off x="2017749" y="6484021"/>
            <a:ext cx="4184051" cy="25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5454E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1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6418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hyperlink" Target="mailto:jaordonez@icesi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EC86-5BDC-0F78-E4C5-05F42ADA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372655AB-5CF3-5132-B959-E47216143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José Armando Ordóñez</a:t>
            </a:r>
          </a:p>
        </p:txBody>
      </p:sp>
      <p:pic>
        <p:nvPicPr>
          <p:cNvPr id="8" name="Imagen 7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B686223-8E18-2A72-8992-43FEED46B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5" y="4022184"/>
            <a:ext cx="969798" cy="96979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50FE6E-ECB1-399F-49F3-D62B1E50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183" y="3403242"/>
            <a:ext cx="1117181" cy="433065"/>
          </a:xfrm>
        </p:spPr>
        <p:txBody>
          <a:bodyPr>
            <a:normAutofit fontScale="92500"/>
          </a:bodyPr>
          <a:lstStyle/>
          <a:p>
            <a:r>
              <a:rPr lang="es-CO" dirty="0"/>
              <a:t>Colombia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80CBC3C-C635-DC7F-D9CC-235D16DBE9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Adopción de Inteligencia artificial</a:t>
            </a:r>
            <a:endParaRPr lang="es-CO" dirty="0"/>
          </a:p>
        </p:txBody>
      </p:sp>
      <p:pic>
        <p:nvPicPr>
          <p:cNvPr id="1026" name="Picture 2" descr="imagen de perfil">
            <a:extLst>
              <a:ext uri="{FF2B5EF4-FFF2-40B4-BE49-F238E27FC236}">
                <a16:creationId xmlns:a16="http://schemas.microsoft.com/office/drawing/2014/main" id="{4FEC0E08-DD93-C532-4E8D-C03FA1C33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3260557"/>
            <a:ext cx="2398295" cy="239829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58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6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9170" y="6396189"/>
            <a:ext cx="9903420" cy="1919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 defTabSz="608013" fontAlgn="base">
              <a:lnSpc>
                <a:spcPts val="1512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Challapally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, 20025</a:t>
            </a:r>
            <a:endParaRPr lang="en-US" sz="900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7076" y="2124944"/>
            <a:ext cx="11430000" cy="29995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defTabSz="608013" fontAlgn="base">
              <a:lnSpc>
                <a:spcPts val="5904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s-ES" sz="4800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Se estiman inversiones de </a:t>
            </a:r>
            <a:r>
              <a:rPr lang="es-ES" sz="6600" b="1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40B </a:t>
            </a:r>
            <a:r>
              <a:rPr lang="es-ES" sz="4000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USD</a:t>
            </a:r>
            <a:r>
              <a:rPr lang="es-ES" sz="4800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 en IA, y el </a:t>
            </a:r>
            <a:r>
              <a:rPr lang="es-ES" sz="6600" b="1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95%</a:t>
            </a:r>
            <a:r>
              <a:rPr lang="es-ES" sz="4800" dirty="0">
                <a:solidFill>
                  <a:prstClr val="white"/>
                </a:solidFill>
                <a:latin typeface="Arial" charset="0"/>
                <a:ea typeface="ＭＳ Ｐゴシック" charset="0"/>
              </a:rPr>
              <a:t> de las organizaciones reportaron no tener retornos</a:t>
            </a:r>
            <a:endParaRPr lang="en-US" sz="4800" dirty="0">
              <a:solidFill>
                <a:prstClr val="white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E5BC9F2-9F79-4D2A-8250-5B41F07E7837}"/>
              </a:ext>
            </a:extLst>
          </p:cNvPr>
          <p:cNvSpPr/>
          <p:nvPr/>
        </p:nvSpPr>
        <p:spPr>
          <a:xfrm>
            <a:off x="123557" y="6433597"/>
            <a:ext cx="3656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333" dirty="0">
                <a:solidFill>
                  <a:prstClr val="white">
                    <a:lumMod val="95000"/>
                  </a:prstClr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831B1C2-BA38-69B0-48BF-2E44A134F1AA}"/>
              </a:ext>
            </a:extLst>
          </p:cNvPr>
          <p:cNvSpPr txBox="1">
            <a:spLocks/>
          </p:cNvSpPr>
          <p:nvPr/>
        </p:nvSpPr>
        <p:spPr>
          <a:xfrm>
            <a:off x="5092793" y="6061794"/>
            <a:ext cx="7446818" cy="339279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>
                <a:latin typeface="Arial" panose="020B0604020202020204"/>
                <a:ea typeface="ＭＳ Ｐゴシック" charset="0"/>
              </a:rPr>
              <a:t>Fuente: CMU Software Engineering Institute &amp; Accenture - AI Adoption Maturity Model (Diciembre 2025),</a:t>
            </a:r>
          </a:p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dirty="0">
              <a:latin typeface="Arial" panose="020B0604020202020204"/>
              <a:ea typeface="ＭＳ Ｐゴシック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B844225-E8D8-76CF-E210-40F8BD23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12" y="649191"/>
            <a:ext cx="7052602" cy="578596"/>
          </a:xfrm>
        </p:spPr>
        <p:txBody>
          <a:bodyPr/>
          <a:lstStyle/>
          <a:p>
            <a:r>
              <a:rPr lang="es-CO" sz="2800" dirty="0"/>
              <a:t>Modelo de madurez de adopción de IA</a:t>
            </a:r>
            <a:endParaRPr lang="en-US" sz="2800" dirty="0"/>
          </a:p>
        </p:txBody>
      </p:sp>
      <p:sp>
        <p:nvSpPr>
          <p:cNvPr id="8" name="Forme libre 21">
            <a:extLst>
              <a:ext uri="{FF2B5EF4-FFF2-40B4-BE49-F238E27FC236}">
                <a16:creationId xmlns:a16="http://schemas.microsoft.com/office/drawing/2014/main" id="{0B195799-DC89-4BB0-3D10-5712F23D2C99}"/>
              </a:ext>
            </a:extLst>
          </p:cNvPr>
          <p:cNvSpPr/>
          <p:nvPr/>
        </p:nvSpPr>
        <p:spPr>
          <a:xfrm>
            <a:off x="6444905" y="1643112"/>
            <a:ext cx="487035" cy="504692"/>
          </a:xfrm>
          <a:custGeom>
            <a:avLst/>
            <a:gdLst>
              <a:gd name="connsiteX0" fmla="*/ 115407 w 230813"/>
              <a:gd name="connsiteY0" fmla="*/ 0 h 230771"/>
              <a:gd name="connsiteX1" fmla="*/ 115407 w 230813"/>
              <a:gd name="connsiteY1" fmla="*/ 0 h 230771"/>
              <a:gd name="connsiteX2" fmla="*/ 230814 w 230813"/>
              <a:gd name="connsiteY2" fmla="*/ 115386 h 230771"/>
              <a:gd name="connsiteX3" fmla="*/ 230814 w 230813"/>
              <a:gd name="connsiteY3" fmla="*/ 115386 h 230771"/>
              <a:gd name="connsiteX4" fmla="*/ 115407 w 230813"/>
              <a:gd name="connsiteY4" fmla="*/ 230771 h 230771"/>
              <a:gd name="connsiteX5" fmla="*/ 115407 w 230813"/>
              <a:gd name="connsiteY5" fmla="*/ 230771 h 230771"/>
              <a:gd name="connsiteX6" fmla="*/ 0 w 230813"/>
              <a:gd name="connsiteY6" fmla="*/ 115386 h 230771"/>
              <a:gd name="connsiteX7" fmla="*/ 0 w 230813"/>
              <a:gd name="connsiteY7" fmla="*/ 115386 h 230771"/>
              <a:gd name="connsiteX8" fmla="*/ 115407 w 230813"/>
              <a:gd name="connsiteY8" fmla="*/ 0 h 23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813" h="230771">
                <a:moveTo>
                  <a:pt x="115407" y="0"/>
                </a:moveTo>
                <a:lnTo>
                  <a:pt x="115407" y="0"/>
                </a:lnTo>
                <a:cubicBezTo>
                  <a:pt x="179098" y="0"/>
                  <a:pt x="230814" y="51638"/>
                  <a:pt x="230814" y="115386"/>
                </a:cubicBezTo>
                <a:lnTo>
                  <a:pt x="230814" y="115386"/>
                </a:lnTo>
                <a:cubicBezTo>
                  <a:pt x="230814" y="179065"/>
                  <a:pt x="179167" y="230771"/>
                  <a:pt x="115407" y="230771"/>
                </a:cubicBezTo>
                <a:lnTo>
                  <a:pt x="115407" y="230771"/>
                </a:lnTo>
                <a:cubicBezTo>
                  <a:pt x="51715" y="230771"/>
                  <a:pt x="0" y="179134"/>
                  <a:pt x="0" y="115386"/>
                </a:cubicBezTo>
                <a:lnTo>
                  <a:pt x="0" y="115386"/>
                </a:lnTo>
                <a:cubicBezTo>
                  <a:pt x="0" y="51706"/>
                  <a:pt x="51647" y="0"/>
                  <a:pt x="115407" y="0"/>
                </a:cubicBezTo>
                <a:close/>
              </a:path>
            </a:pathLst>
          </a:custGeom>
          <a:solidFill>
            <a:srgbClr val="D0BA94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fr-FR" sz="3200" dirty="0">
              <a:solidFill>
                <a:srgbClr val="393939"/>
              </a:solidFill>
              <a:latin typeface="Arial" panose="020B0604020202020204"/>
              <a:ea typeface="ＭＳ Ｐゴシック" charset="0"/>
            </a:endParaRPr>
          </a:p>
        </p:txBody>
      </p:sp>
      <p:sp>
        <p:nvSpPr>
          <p:cNvPr id="9" name="Forme libre 22">
            <a:extLst>
              <a:ext uri="{FF2B5EF4-FFF2-40B4-BE49-F238E27FC236}">
                <a16:creationId xmlns:a16="http://schemas.microsoft.com/office/drawing/2014/main" id="{795B30F1-F9FC-EB4E-CBC1-17888D6481D9}"/>
              </a:ext>
            </a:extLst>
          </p:cNvPr>
          <p:cNvSpPr/>
          <p:nvPr/>
        </p:nvSpPr>
        <p:spPr>
          <a:xfrm>
            <a:off x="5743263" y="2347037"/>
            <a:ext cx="1947860" cy="504694"/>
          </a:xfrm>
          <a:custGeom>
            <a:avLst/>
            <a:gdLst>
              <a:gd name="connsiteX0" fmla="*/ 230814 w 923120"/>
              <a:gd name="connsiteY0" fmla="*/ 0 h 230772"/>
              <a:gd name="connsiteX1" fmla="*/ 461560 w 923120"/>
              <a:gd name="connsiteY1" fmla="*/ 0 h 230772"/>
              <a:gd name="connsiteX2" fmla="*/ 692307 w 923120"/>
              <a:gd name="connsiteY2" fmla="*/ 0 h 230772"/>
              <a:gd name="connsiteX3" fmla="*/ 807714 w 923120"/>
              <a:gd name="connsiteY3" fmla="*/ 0 h 230772"/>
              <a:gd name="connsiteX4" fmla="*/ 923120 w 923120"/>
              <a:gd name="connsiteY4" fmla="*/ 115386 h 230772"/>
              <a:gd name="connsiteX5" fmla="*/ 923120 w 923120"/>
              <a:gd name="connsiteY5" fmla="*/ 115386 h 230772"/>
              <a:gd name="connsiteX6" fmla="*/ 807714 w 923120"/>
              <a:gd name="connsiteY6" fmla="*/ 230772 h 230772"/>
              <a:gd name="connsiteX7" fmla="*/ 692307 w 923120"/>
              <a:gd name="connsiteY7" fmla="*/ 230772 h 230772"/>
              <a:gd name="connsiteX8" fmla="*/ 461560 w 923120"/>
              <a:gd name="connsiteY8" fmla="*/ 230772 h 230772"/>
              <a:gd name="connsiteX9" fmla="*/ 230814 w 923120"/>
              <a:gd name="connsiteY9" fmla="*/ 230772 h 230772"/>
              <a:gd name="connsiteX10" fmla="*/ 115407 w 923120"/>
              <a:gd name="connsiteY10" fmla="*/ 230772 h 230772"/>
              <a:gd name="connsiteX11" fmla="*/ 0 w 923120"/>
              <a:gd name="connsiteY11" fmla="*/ 115386 h 230772"/>
              <a:gd name="connsiteX12" fmla="*/ 0 w 923120"/>
              <a:gd name="connsiteY12" fmla="*/ 115386 h 230772"/>
              <a:gd name="connsiteX13" fmla="*/ 115407 w 923120"/>
              <a:gd name="connsiteY13" fmla="*/ 0 h 230772"/>
              <a:gd name="connsiteX14" fmla="*/ 230814 w 923120"/>
              <a:gd name="connsiteY14" fmla="*/ 0 h 230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23120" h="230772">
                <a:moveTo>
                  <a:pt x="230814" y="0"/>
                </a:moveTo>
                <a:lnTo>
                  <a:pt x="461560" y="0"/>
                </a:lnTo>
                <a:cubicBezTo>
                  <a:pt x="461560" y="0"/>
                  <a:pt x="692307" y="0"/>
                  <a:pt x="692307" y="0"/>
                </a:cubicBezTo>
                <a:lnTo>
                  <a:pt x="807714" y="0"/>
                </a:lnTo>
                <a:cubicBezTo>
                  <a:pt x="871405" y="0"/>
                  <a:pt x="923120" y="51639"/>
                  <a:pt x="923120" y="115386"/>
                </a:cubicBezTo>
                <a:lnTo>
                  <a:pt x="923120" y="115386"/>
                </a:lnTo>
                <a:cubicBezTo>
                  <a:pt x="923120" y="179066"/>
                  <a:pt x="871473" y="230772"/>
                  <a:pt x="807714" y="230772"/>
                </a:cubicBezTo>
                <a:lnTo>
                  <a:pt x="692307" y="230772"/>
                </a:lnTo>
                <a:cubicBezTo>
                  <a:pt x="692307" y="230772"/>
                  <a:pt x="461560" y="230772"/>
                  <a:pt x="461560" y="230772"/>
                </a:cubicBezTo>
                <a:lnTo>
                  <a:pt x="230814" y="230772"/>
                </a:lnTo>
                <a:cubicBezTo>
                  <a:pt x="230814" y="230772"/>
                  <a:pt x="115407" y="230772"/>
                  <a:pt x="115407" y="230772"/>
                </a:cubicBezTo>
                <a:cubicBezTo>
                  <a:pt x="51715" y="230772"/>
                  <a:pt x="0" y="179134"/>
                  <a:pt x="0" y="115386"/>
                </a:cubicBezTo>
                <a:lnTo>
                  <a:pt x="0" y="115386"/>
                </a:lnTo>
                <a:cubicBezTo>
                  <a:pt x="0" y="51707"/>
                  <a:pt x="51647" y="0"/>
                  <a:pt x="115407" y="0"/>
                </a:cubicBezTo>
                <a:lnTo>
                  <a:pt x="230814" y="0"/>
                </a:lnTo>
                <a:close/>
              </a:path>
            </a:pathLst>
          </a:custGeom>
          <a:solidFill>
            <a:schemeClr val="accent3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noProof="1">
                <a:solidFill>
                  <a:srgbClr val="FFFFFF"/>
                </a:solidFill>
                <a:latin typeface="Arial" panose="020B0604020202020204"/>
                <a:ea typeface="ＭＳ Ｐゴシック" charset="0"/>
              </a:rPr>
              <a:t>IA preparada para el futuro</a:t>
            </a:r>
          </a:p>
        </p:txBody>
      </p:sp>
      <p:sp>
        <p:nvSpPr>
          <p:cNvPr id="10" name="Forme libre 23">
            <a:extLst>
              <a:ext uri="{FF2B5EF4-FFF2-40B4-BE49-F238E27FC236}">
                <a16:creationId xmlns:a16="http://schemas.microsoft.com/office/drawing/2014/main" id="{0AF67B10-16EF-E0A0-676E-25F94060E0AF}"/>
              </a:ext>
            </a:extLst>
          </p:cNvPr>
          <p:cNvSpPr/>
          <p:nvPr/>
        </p:nvSpPr>
        <p:spPr>
          <a:xfrm>
            <a:off x="5229679" y="3023876"/>
            <a:ext cx="2917484" cy="504694"/>
          </a:xfrm>
          <a:custGeom>
            <a:avLst/>
            <a:gdLst>
              <a:gd name="connsiteX0" fmla="*/ 228841 w 1382639"/>
              <a:gd name="connsiteY0" fmla="*/ 0 h 230772"/>
              <a:gd name="connsiteX1" fmla="*/ 230746 w 1382639"/>
              <a:gd name="connsiteY1" fmla="*/ 0 h 230772"/>
              <a:gd name="connsiteX2" fmla="*/ 459587 w 1382639"/>
              <a:gd name="connsiteY2" fmla="*/ 0 h 230772"/>
              <a:gd name="connsiteX3" fmla="*/ 690333 w 1382639"/>
              <a:gd name="connsiteY3" fmla="*/ 0 h 230772"/>
              <a:gd name="connsiteX4" fmla="*/ 921080 w 1382639"/>
              <a:gd name="connsiteY4" fmla="*/ 0 h 230772"/>
              <a:gd name="connsiteX5" fmla="*/ 1151826 w 1382639"/>
              <a:gd name="connsiteY5" fmla="*/ 0 h 230772"/>
              <a:gd name="connsiteX6" fmla="*/ 1267233 w 1382639"/>
              <a:gd name="connsiteY6" fmla="*/ 0 h 230772"/>
              <a:gd name="connsiteX7" fmla="*/ 1382640 w 1382639"/>
              <a:gd name="connsiteY7" fmla="*/ 115386 h 230772"/>
              <a:gd name="connsiteX8" fmla="*/ 1382640 w 1382639"/>
              <a:gd name="connsiteY8" fmla="*/ 115386 h 230772"/>
              <a:gd name="connsiteX9" fmla="*/ 1267233 w 1382639"/>
              <a:gd name="connsiteY9" fmla="*/ 230772 h 230772"/>
              <a:gd name="connsiteX10" fmla="*/ 1151826 w 1382639"/>
              <a:gd name="connsiteY10" fmla="*/ 230772 h 230772"/>
              <a:gd name="connsiteX11" fmla="*/ 921080 w 1382639"/>
              <a:gd name="connsiteY11" fmla="*/ 230772 h 230772"/>
              <a:gd name="connsiteX12" fmla="*/ 690333 w 1382639"/>
              <a:gd name="connsiteY12" fmla="*/ 230772 h 230772"/>
              <a:gd name="connsiteX13" fmla="*/ 459587 w 1382639"/>
              <a:gd name="connsiteY13" fmla="*/ 230772 h 230772"/>
              <a:gd name="connsiteX14" fmla="*/ 230746 w 1382639"/>
              <a:gd name="connsiteY14" fmla="*/ 230772 h 230772"/>
              <a:gd name="connsiteX15" fmla="*/ 228841 w 1382639"/>
              <a:gd name="connsiteY15" fmla="*/ 230772 h 230772"/>
              <a:gd name="connsiteX16" fmla="*/ 115407 w 1382639"/>
              <a:gd name="connsiteY16" fmla="*/ 230772 h 230772"/>
              <a:gd name="connsiteX17" fmla="*/ 0 w 1382639"/>
              <a:gd name="connsiteY17" fmla="*/ 115386 h 230772"/>
              <a:gd name="connsiteX18" fmla="*/ 0 w 1382639"/>
              <a:gd name="connsiteY18" fmla="*/ 115386 h 230772"/>
              <a:gd name="connsiteX19" fmla="*/ 115407 w 1382639"/>
              <a:gd name="connsiteY19" fmla="*/ 0 h 230772"/>
              <a:gd name="connsiteX20" fmla="*/ 228841 w 1382639"/>
              <a:gd name="connsiteY20" fmla="*/ 0 h 230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82639" h="230772">
                <a:moveTo>
                  <a:pt x="228841" y="0"/>
                </a:moveTo>
                <a:lnTo>
                  <a:pt x="230746" y="0"/>
                </a:lnTo>
                <a:cubicBezTo>
                  <a:pt x="230746" y="0"/>
                  <a:pt x="459587" y="0"/>
                  <a:pt x="459587" y="0"/>
                </a:cubicBezTo>
                <a:lnTo>
                  <a:pt x="690333" y="0"/>
                </a:lnTo>
                <a:cubicBezTo>
                  <a:pt x="690333" y="0"/>
                  <a:pt x="921080" y="0"/>
                  <a:pt x="921080" y="0"/>
                </a:cubicBezTo>
                <a:lnTo>
                  <a:pt x="1151826" y="0"/>
                </a:lnTo>
                <a:cubicBezTo>
                  <a:pt x="1151826" y="0"/>
                  <a:pt x="1267233" y="0"/>
                  <a:pt x="1267233" y="0"/>
                </a:cubicBezTo>
                <a:cubicBezTo>
                  <a:pt x="1330924" y="0"/>
                  <a:pt x="1382640" y="51638"/>
                  <a:pt x="1382640" y="115386"/>
                </a:cubicBezTo>
                <a:lnTo>
                  <a:pt x="1382640" y="115386"/>
                </a:lnTo>
                <a:cubicBezTo>
                  <a:pt x="1382640" y="179066"/>
                  <a:pt x="1330993" y="230772"/>
                  <a:pt x="1267233" y="230772"/>
                </a:cubicBezTo>
                <a:lnTo>
                  <a:pt x="1151826" y="230772"/>
                </a:lnTo>
                <a:cubicBezTo>
                  <a:pt x="1151826" y="230772"/>
                  <a:pt x="921080" y="230772"/>
                  <a:pt x="921080" y="230772"/>
                </a:cubicBezTo>
                <a:lnTo>
                  <a:pt x="690333" y="230772"/>
                </a:lnTo>
                <a:cubicBezTo>
                  <a:pt x="690333" y="230772"/>
                  <a:pt x="459587" y="230772"/>
                  <a:pt x="459587" y="230772"/>
                </a:cubicBezTo>
                <a:lnTo>
                  <a:pt x="230746" y="230772"/>
                </a:lnTo>
                <a:cubicBezTo>
                  <a:pt x="230746" y="230772"/>
                  <a:pt x="228841" y="230772"/>
                  <a:pt x="228841" y="230772"/>
                </a:cubicBezTo>
                <a:lnTo>
                  <a:pt x="115407" y="230772"/>
                </a:lnTo>
                <a:cubicBezTo>
                  <a:pt x="51715" y="230772"/>
                  <a:pt x="0" y="179134"/>
                  <a:pt x="0" y="115386"/>
                </a:cubicBezTo>
                <a:lnTo>
                  <a:pt x="0" y="115386"/>
                </a:lnTo>
                <a:cubicBezTo>
                  <a:pt x="0" y="51706"/>
                  <a:pt x="51647" y="0"/>
                  <a:pt x="115407" y="0"/>
                </a:cubicBezTo>
                <a:lnTo>
                  <a:pt x="228841" y="0"/>
                </a:lnTo>
                <a:close/>
              </a:path>
            </a:pathLst>
          </a:custGeom>
          <a:solidFill>
            <a:schemeClr val="bg2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fr-FR" sz="1700">
              <a:solidFill>
                <a:srgbClr val="393939"/>
              </a:solidFill>
              <a:latin typeface="Arial" panose="020B0604020202020204"/>
              <a:ea typeface="ＭＳ Ｐゴシック" charset="0"/>
            </a:endParaRPr>
          </a:p>
        </p:txBody>
      </p:sp>
      <p:sp>
        <p:nvSpPr>
          <p:cNvPr id="11" name="Forme libre 25">
            <a:extLst>
              <a:ext uri="{FF2B5EF4-FFF2-40B4-BE49-F238E27FC236}">
                <a16:creationId xmlns:a16="http://schemas.microsoft.com/office/drawing/2014/main" id="{5AC46B19-8C71-AD39-26DB-AEBFB83364C2}"/>
              </a:ext>
            </a:extLst>
          </p:cNvPr>
          <p:cNvSpPr/>
          <p:nvPr/>
        </p:nvSpPr>
        <p:spPr>
          <a:xfrm>
            <a:off x="4012372" y="4404642"/>
            <a:ext cx="5352098" cy="504692"/>
          </a:xfrm>
          <a:custGeom>
            <a:avLst/>
            <a:gdLst>
              <a:gd name="connsiteX0" fmla="*/ 230815 w 2536439"/>
              <a:gd name="connsiteY0" fmla="*/ 0 h 230771"/>
              <a:gd name="connsiteX1" fmla="*/ 461561 w 2536439"/>
              <a:gd name="connsiteY1" fmla="*/ 0 h 230771"/>
              <a:gd name="connsiteX2" fmla="*/ 692307 w 2536439"/>
              <a:gd name="connsiteY2" fmla="*/ 0 h 230771"/>
              <a:gd name="connsiteX3" fmla="*/ 923053 w 2536439"/>
              <a:gd name="connsiteY3" fmla="*/ 0 h 230771"/>
              <a:gd name="connsiteX4" fmla="*/ 1151894 w 2536439"/>
              <a:gd name="connsiteY4" fmla="*/ 0 h 230771"/>
              <a:gd name="connsiteX5" fmla="*/ 1153800 w 2536439"/>
              <a:gd name="connsiteY5" fmla="*/ 0 h 230771"/>
              <a:gd name="connsiteX6" fmla="*/ 1382641 w 2536439"/>
              <a:gd name="connsiteY6" fmla="*/ 0 h 230771"/>
              <a:gd name="connsiteX7" fmla="*/ 1613386 w 2536439"/>
              <a:gd name="connsiteY7" fmla="*/ 0 h 230771"/>
              <a:gd name="connsiteX8" fmla="*/ 1844133 w 2536439"/>
              <a:gd name="connsiteY8" fmla="*/ 0 h 230771"/>
              <a:gd name="connsiteX9" fmla="*/ 2074879 w 2536439"/>
              <a:gd name="connsiteY9" fmla="*/ 0 h 230771"/>
              <a:gd name="connsiteX10" fmla="*/ 2305626 w 2536439"/>
              <a:gd name="connsiteY10" fmla="*/ 0 h 230771"/>
              <a:gd name="connsiteX11" fmla="*/ 2421033 w 2536439"/>
              <a:gd name="connsiteY11" fmla="*/ 0 h 230771"/>
              <a:gd name="connsiteX12" fmla="*/ 2536439 w 2536439"/>
              <a:gd name="connsiteY12" fmla="*/ 115386 h 230771"/>
              <a:gd name="connsiteX13" fmla="*/ 2536439 w 2536439"/>
              <a:gd name="connsiteY13" fmla="*/ 115386 h 230771"/>
              <a:gd name="connsiteX14" fmla="*/ 2421033 w 2536439"/>
              <a:gd name="connsiteY14" fmla="*/ 230771 h 230771"/>
              <a:gd name="connsiteX15" fmla="*/ 2305626 w 2536439"/>
              <a:gd name="connsiteY15" fmla="*/ 230771 h 230771"/>
              <a:gd name="connsiteX16" fmla="*/ 2074879 w 2536439"/>
              <a:gd name="connsiteY16" fmla="*/ 230771 h 230771"/>
              <a:gd name="connsiteX17" fmla="*/ 1844133 w 2536439"/>
              <a:gd name="connsiteY17" fmla="*/ 230771 h 230771"/>
              <a:gd name="connsiteX18" fmla="*/ 1613386 w 2536439"/>
              <a:gd name="connsiteY18" fmla="*/ 230771 h 230771"/>
              <a:gd name="connsiteX19" fmla="*/ 1382641 w 2536439"/>
              <a:gd name="connsiteY19" fmla="*/ 230771 h 230771"/>
              <a:gd name="connsiteX20" fmla="*/ 1153800 w 2536439"/>
              <a:gd name="connsiteY20" fmla="*/ 230771 h 230771"/>
              <a:gd name="connsiteX21" fmla="*/ 1151894 w 2536439"/>
              <a:gd name="connsiteY21" fmla="*/ 230771 h 230771"/>
              <a:gd name="connsiteX22" fmla="*/ 923053 w 2536439"/>
              <a:gd name="connsiteY22" fmla="*/ 230771 h 230771"/>
              <a:gd name="connsiteX23" fmla="*/ 692307 w 2536439"/>
              <a:gd name="connsiteY23" fmla="*/ 230771 h 230771"/>
              <a:gd name="connsiteX24" fmla="*/ 461561 w 2536439"/>
              <a:gd name="connsiteY24" fmla="*/ 230771 h 230771"/>
              <a:gd name="connsiteX25" fmla="*/ 230815 w 2536439"/>
              <a:gd name="connsiteY25" fmla="*/ 230771 h 230771"/>
              <a:gd name="connsiteX26" fmla="*/ 115407 w 2536439"/>
              <a:gd name="connsiteY26" fmla="*/ 230771 h 230771"/>
              <a:gd name="connsiteX27" fmla="*/ 0 w 2536439"/>
              <a:gd name="connsiteY27" fmla="*/ 115386 h 230771"/>
              <a:gd name="connsiteX28" fmla="*/ 0 w 2536439"/>
              <a:gd name="connsiteY28" fmla="*/ 115386 h 230771"/>
              <a:gd name="connsiteX29" fmla="*/ 115407 w 2536439"/>
              <a:gd name="connsiteY29" fmla="*/ 0 h 230771"/>
              <a:gd name="connsiteX30" fmla="*/ 230815 w 2536439"/>
              <a:gd name="connsiteY30" fmla="*/ 0 h 23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536439" h="230771">
                <a:moveTo>
                  <a:pt x="230815" y="0"/>
                </a:moveTo>
                <a:lnTo>
                  <a:pt x="461561" y="0"/>
                </a:lnTo>
                <a:cubicBezTo>
                  <a:pt x="461561" y="0"/>
                  <a:pt x="692307" y="0"/>
                  <a:pt x="692307" y="0"/>
                </a:cubicBezTo>
                <a:lnTo>
                  <a:pt x="923053" y="0"/>
                </a:lnTo>
                <a:cubicBezTo>
                  <a:pt x="923053" y="0"/>
                  <a:pt x="1151894" y="0"/>
                  <a:pt x="1151894" y="0"/>
                </a:cubicBezTo>
                <a:lnTo>
                  <a:pt x="1153800" y="0"/>
                </a:lnTo>
                <a:cubicBezTo>
                  <a:pt x="1153800" y="0"/>
                  <a:pt x="1382641" y="0"/>
                  <a:pt x="1382641" y="0"/>
                </a:cubicBezTo>
                <a:lnTo>
                  <a:pt x="1613386" y="0"/>
                </a:lnTo>
                <a:cubicBezTo>
                  <a:pt x="1613386" y="0"/>
                  <a:pt x="1844133" y="0"/>
                  <a:pt x="1844133" y="0"/>
                </a:cubicBezTo>
                <a:lnTo>
                  <a:pt x="2074879" y="0"/>
                </a:lnTo>
                <a:cubicBezTo>
                  <a:pt x="2074879" y="0"/>
                  <a:pt x="2305626" y="0"/>
                  <a:pt x="2305626" y="0"/>
                </a:cubicBezTo>
                <a:lnTo>
                  <a:pt x="2421033" y="0"/>
                </a:lnTo>
                <a:cubicBezTo>
                  <a:pt x="2484723" y="0"/>
                  <a:pt x="2536439" y="51638"/>
                  <a:pt x="2536439" y="115386"/>
                </a:cubicBezTo>
                <a:lnTo>
                  <a:pt x="2536439" y="115386"/>
                </a:lnTo>
                <a:cubicBezTo>
                  <a:pt x="2536439" y="179065"/>
                  <a:pt x="2484791" y="230771"/>
                  <a:pt x="2421033" y="230771"/>
                </a:cubicBezTo>
                <a:lnTo>
                  <a:pt x="2305626" y="230771"/>
                </a:lnTo>
                <a:cubicBezTo>
                  <a:pt x="2305626" y="230771"/>
                  <a:pt x="2074879" y="230771"/>
                  <a:pt x="2074879" y="230771"/>
                </a:cubicBezTo>
                <a:lnTo>
                  <a:pt x="1844133" y="230771"/>
                </a:lnTo>
                <a:cubicBezTo>
                  <a:pt x="1844133" y="230771"/>
                  <a:pt x="1613386" y="230771"/>
                  <a:pt x="1613386" y="230771"/>
                </a:cubicBezTo>
                <a:lnTo>
                  <a:pt x="1382641" y="230771"/>
                </a:lnTo>
                <a:cubicBezTo>
                  <a:pt x="1382641" y="230771"/>
                  <a:pt x="1153800" y="230771"/>
                  <a:pt x="1153800" y="230771"/>
                </a:cubicBezTo>
                <a:lnTo>
                  <a:pt x="1151894" y="230771"/>
                </a:lnTo>
                <a:cubicBezTo>
                  <a:pt x="1151894" y="230771"/>
                  <a:pt x="923053" y="230771"/>
                  <a:pt x="923053" y="230771"/>
                </a:cubicBezTo>
                <a:lnTo>
                  <a:pt x="692307" y="230771"/>
                </a:lnTo>
                <a:cubicBezTo>
                  <a:pt x="692307" y="230771"/>
                  <a:pt x="461561" y="230771"/>
                  <a:pt x="461561" y="230771"/>
                </a:cubicBezTo>
                <a:lnTo>
                  <a:pt x="230815" y="230771"/>
                </a:lnTo>
                <a:cubicBezTo>
                  <a:pt x="230815" y="230771"/>
                  <a:pt x="115407" y="230771"/>
                  <a:pt x="115407" y="230771"/>
                </a:cubicBezTo>
                <a:cubicBezTo>
                  <a:pt x="51715" y="230771"/>
                  <a:pt x="0" y="179134"/>
                  <a:pt x="0" y="115386"/>
                </a:cubicBezTo>
                <a:lnTo>
                  <a:pt x="0" y="115386"/>
                </a:lnTo>
                <a:cubicBezTo>
                  <a:pt x="0" y="51706"/>
                  <a:pt x="51647" y="0"/>
                  <a:pt x="115407" y="0"/>
                </a:cubicBezTo>
                <a:lnTo>
                  <a:pt x="230815" y="0"/>
                </a:lnTo>
                <a:close/>
              </a:path>
            </a:pathLst>
          </a:custGeom>
          <a:solidFill>
            <a:schemeClr val="accent1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93939"/>
              </a:solidFill>
              <a:latin typeface="Arial" panose="020B0604020202020204"/>
              <a:ea typeface="ＭＳ Ｐゴシック" charset="0"/>
            </a:endParaRPr>
          </a:p>
        </p:txBody>
      </p:sp>
      <p:sp>
        <p:nvSpPr>
          <p:cNvPr id="12" name="Forme libre 26">
            <a:extLst>
              <a:ext uri="{FF2B5EF4-FFF2-40B4-BE49-F238E27FC236}">
                <a16:creationId xmlns:a16="http://schemas.microsoft.com/office/drawing/2014/main" id="{E305DF92-51F7-99B1-8B07-D908705990E7}"/>
              </a:ext>
            </a:extLst>
          </p:cNvPr>
          <p:cNvSpPr/>
          <p:nvPr/>
        </p:nvSpPr>
        <p:spPr>
          <a:xfrm>
            <a:off x="3525480" y="5095026"/>
            <a:ext cx="6325885" cy="504692"/>
          </a:xfrm>
          <a:custGeom>
            <a:avLst/>
            <a:gdLst>
              <a:gd name="connsiteX0" fmla="*/ 230815 w 2997931"/>
              <a:gd name="connsiteY0" fmla="*/ 0 h 230771"/>
              <a:gd name="connsiteX1" fmla="*/ 461561 w 2997931"/>
              <a:gd name="connsiteY1" fmla="*/ 0 h 230771"/>
              <a:gd name="connsiteX2" fmla="*/ 692308 w 2997931"/>
              <a:gd name="connsiteY2" fmla="*/ 0 h 230771"/>
              <a:gd name="connsiteX3" fmla="*/ 923053 w 2997931"/>
              <a:gd name="connsiteY3" fmla="*/ 0 h 230771"/>
              <a:gd name="connsiteX4" fmla="*/ 1153800 w 2997931"/>
              <a:gd name="connsiteY4" fmla="*/ 0 h 230771"/>
              <a:gd name="connsiteX5" fmla="*/ 1382641 w 2997931"/>
              <a:gd name="connsiteY5" fmla="*/ 0 h 230771"/>
              <a:gd name="connsiteX6" fmla="*/ 1384546 w 2997931"/>
              <a:gd name="connsiteY6" fmla="*/ 0 h 230771"/>
              <a:gd name="connsiteX7" fmla="*/ 1613387 w 2997931"/>
              <a:gd name="connsiteY7" fmla="*/ 0 h 230771"/>
              <a:gd name="connsiteX8" fmla="*/ 1844133 w 2997931"/>
              <a:gd name="connsiteY8" fmla="*/ 0 h 230771"/>
              <a:gd name="connsiteX9" fmla="*/ 2074879 w 2997931"/>
              <a:gd name="connsiteY9" fmla="*/ 0 h 230771"/>
              <a:gd name="connsiteX10" fmla="*/ 2305626 w 2997931"/>
              <a:gd name="connsiteY10" fmla="*/ 0 h 230771"/>
              <a:gd name="connsiteX11" fmla="*/ 2536372 w 2997931"/>
              <a:gd name="connsiteY11" fmla="*/ 0 h 230771"/>
              <a:gd name="connsiteX12" fmla="*/ 2767118 w 2997931"/>
              <a:gd name="connsiteY12" fmla="*/ 0 h 230771"/>
              <a:gd name="connsiteX13" fmla="*/ 2882525 w 2997931"/>
              <a:gd name="connsiteY13" fmla="*/ 0 h 230771"/>
              <a:gd name="connsiteX14" fmla="*/ 2997931 w 2997931"/>
              <a:gd name="connsiteY14" fmla="*/ 115386 h 230771"/>
              <a:gd name="connsiteX15" fmla="*/ 2997931 w 2997931"/>
              <a:gd name="connsiteY15" fmla="*/ 115386 h 230771"/>
              <a:gd name="connsiteX16" fmla="*/ 2882525 w 2997931"/>
              <a:gd name="connsiteY16" fmla="*/ 230771 h 230771"/>
              <a:gd name="connsiteX17" fmla="*/ 2767118 w 2997931"/>
              <a:gd name="connsiteY17" fmla="*/ 230771 h 230771"/>
              <a:gd name="connsiteX18" fmla="*/ 2536372 w 2997931"/>
              <a:gd name="connsiteY18" fmla="*/ 230771 h 230771"/>
              <a:gd name="connsiteX19" fmla="*/ 2305626 w 2997931"/>
              <a:gd name="connsiteY19" fmla="*/ 230771 h 230771"/>
              <a:gd name="connsiteX20" fmla="*/ 2074879 w 2997931"/>
              <a:gd name="connsiteY20" fmla="*/ 230771 h 230771"/>
              <a:gd name="connsiteX21" fmla="*/ 1844133 w 2997931"/>
              <a:gd name="connsiteY21" fmla="*/ 230771 h 230771"/>
              <a:gd name="connsiteX22" fmla="*/ 1613387 w 2997931"/>
              <a:gd name="connsiteY22" fmla="*/ 230771 h 230771"/>
              <a:gd name="connsiteX23" fmla="*/ 1384546 w 2997931"/>
              <a:gd name="connsiteY23" fmla="*/ 230771 h 230771"/>
              <a:gd name="connsiteX24" fmla="*/ 1382641 w 2997931"/>
              <a:gd name="connsiteY24" fmla="*/ 230771 h 230771"/>
              <a:gd name="connsiteX25" fmla="*/ 1153800 w 2997931"/>
              <a:gd name="connsiteY25" fmla="*/ 230771 h 230771"/>
              <a:gd name="connsiteX26" fmla="*/ 923053 w 2997931"/>
              <a:gd name="connsiteY26" fmla="*/ 230771 h 230771"/>
              <a:gd name="connsiteX27" fmla="*/ 692308 w 2997931"/>
              <a:gd name="connsiteY27" fmla="*/ 230771 h 230771"/>
              <a:gd name="connsiteX28" fmla="*/ 461561 w 2997931"/>
              <a:gd name="connsiteY28" fmla="*/ 230771 h 230771"/>
              <a:gd name="connsiteX29" fmla="*/ 230815 w 2997931"/>
              <a:gd name="connsiteY29" fmla="*/ 230771 h 230771"/>
              <a:gd name="connsiteX30" fmla="*/ 230815 w 2997931"/>
              <a:gd name="connsiteY30" fmla="*/ 230771 h 230771"/>
              <a:gd name="connsiteX31" fmla="*/ 115408 w 2997931"/>
              <a:gd name="connsiteY31" fmla="*/ 230771 h 230771"/>
              <a:gd name="connsiteX32" fmla="*/ 0 w 2997931"/>
              <a:gd name="connsiteY32" fmla="*/ 115386 h 230771"/>
              <a:gd name="connsiteX33" fmla="*/ 0 w 2997931"/>
              <a:gd name="connsiteY33" fmla="*/ 115386 h 230771"/>
              <a:gd name="connsiteX34" fmla="*/ 115408 w 2997931"/>
              <a:gd name="connsiteY34" fmla="*/ 0 h 230771"/>
              <a:gd name="connsiteX35" fmla="*/ 230815 w 2997931"/>
              <a:gd name="connsiteY35" fmla="*/ 0 h 23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997931" h="230771">
                <a:moveTo>
                  <a:pt x="230815" y="0"/>
                </a:moveTo>
                <a:lnTo>
                  <a:pt x="461561" y="0"/>
                </a:lnTo>
                <a:cubicBezTo>
                  <a:pt x="461561" y="0"/>
                  <a:pt x="692308" y="0"/>
                  <a:pt x="692308" y="0"/>
                </a:cubicBezTo>
                <a:lnTo>
                  <a:pt x="923053" y="0"/>
                </a:lnTo>
                <a:cubicBezTo>
                  <a:pt x="923053" y="0"/>
                  <a:pt x="1153800" y="0"/>
                  <a:pt x="1153800" y="0"/>
                </a:cubicBezTo>
                <a:lnTo>
                  <a:pt x="1382641" y="0"/>
                </a:lnTo>
                <a:cubicBezTo>
                  <a:pt x="1382641" y="0"/>
                  <a:pt x="1384546" y="0"/>
                  <a:pt x="1384546" y="0"/>
                </a:cubicBezTo>
                <a:lnTo>
                  <a:pt x="1613387" y="0"/>
                </a:lnTo>
                <a:cubicBezTo>
                  <a:pt x="1613387" y="0"/>
                  <a:pt x="1844133" y="0"/>
                  <a:pt x="1844133" y="0"/>
                </a:cubicBezTo>
                <a:lnTo>
                  <a:pt x="2074879" y="0"/>
                </a:lnTo>
                <a:cubicBezTo>
                  <a:pt x="2074879" y="0"/>
                  <a:pt x="2305626" y="0"/>
                  <a:pt x="2305626" y="0"/>
                </a:cubicBezTo>
                <a:lnTo>
                  <a:pt x="2536372" y="0"/>
                </a:lnTo>
                <a:cubicBezTo>
                  <a:pt x="2536372" y="0"/>
                  <a:pt x="2767118" y="0"/>
                  <a:pt x="2767118" y="0"/>
                </a:cubicBezTo>
                <a:lnTo>
                  <a:pt x="2882525" y="0"/>
                </a:lnTo>
                <a:cubicBezTo>
                  <a:pt x="2946217" y="0"/>
                  <a:pt x="2997931" y="51638"/>
                  <a:pt x="2997931" y="115386"/>
                </a:cubicBezTo>
                <a:lnTo>
                  <a:pt x="2997931" y="115386"/>
                </a:lnTo>
                <a:cubicBezTo>
                  <a:pt x="2997931" y="179065"/>
                  <a:pt x="2946285" y="230771"/>
                  <a:pt x="2882525" y="230771"/>
                </a:cubicBezTo>
                <a:lnTo>
                  <a:pt x="2767118" y="230771"/>
                </a:lnTo>
                <a:cubicBezTo>
                  <a:pt x="2767118" y="230771"/>
                  <a:pt x="2536372" y="230771"/>
                  <a:pt x="2536372" y="230771"/>
                </a:cubicBezTo>
                <a:lnTo>
                  <a:pt x="2305626" y="230771"/>
                </a:lnTo>
                <a:cubicBezTo>
                  <a:pt x="2305626" y="230771"/>
                  <a:pt x="2074879" y="230771"/>
                  <a:pt x="2074879" y="230771"/>
                </a:cubicBezTo>
                <a:lnTo>
                  <a:pt x="1844133" y="230771"/>
                </a:lnTo>
                <a:cubicBezTo>
                  <a:pt x="1844133" y="230771"/>
                  <a:pt x="1613387" y="230771"/>
                  <a:pt x="1613387" y="230771"/>
                </a:cubicBezTo>
                <a:lnTo>
                  <a:pt x="1384546" y="230771"/>
                </a:lnTo>
                <a:cubicBezTo>
                  <a:pt x="1384546" y="230771"/>
                  <a:pt x="1382641" y="230771"/>
                  <a:pt x="1382641" y="230771"/>
                </a:cubicBezTo>
                <a:lnTo>
                  <a:pt x="1153800" y="230771"/>
                </a:lnTo>
                <a:cubicBezTo>
                  <a:pt x="1153800" y="230771"/>
                  <a:pt x="923053" y="230771"/>
                  <a:pt x="923053" y="230771"/>
                </a:cubicBezTo>
                <a:lnTo>
                  <a:pt x="692308" y="230771"/>
                </a:lnTo>
                <a:cubicBezTo>
                  <a:pt x="692308" y="230771"/>
                  <a:pt x="461561" y="230771"/>
                  <a:pt x="461561" y="230771"/>
                </a:cubicBezTo>
                <a:lnTo>
                  <a:pt x="230815" y="230771"/>
                </a:lnTo>
                <a:cubicBezTo>
                  <a:pt x="230815" y="230771"/>
                  <a:pt x="230815" y="230771"/>
                  <a:pt x="230815" y="230771"/>
                </a:cubicBezTo>
                <a:lnTo>
                  <a:pt x="115408" y="230771"/>
                </a:lnTo>
                <a:cubicBezTo>
                  <a:pt x="51716" y="230771"/>
                  <a:pt x="0" y="179134"/>
                  <a:pt x="0" y="115386"/>
                </a:cubicBezTo>
                <a:lnTo>
                  <a:pt x="0" y="115386"/>
                </a:lnTo>
                <a:cubicBezTo>
                  <a:pt x="0" y="51706"/>
                  <a:pt x="51648" y="0"/>
                  <a:pt x="115408" y="0"/>
                </a:cubicBezTo>
                <a:lnTo>
                  <a:pt x="230815" y="0"/>
                </a:lnTo>
                <a:close/>
              </a:path>
            </a:pathLst>
          </a:custGeom>
          <a:solidFill>
            <a:schemeClr val="tx2"/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fr-FR" sz="1700" dirty="0">
              <a:solidFill>
                <a:srgbClr val="393939"/>
              </a:solidFill>
              <a:latin typeface="Arial" panose="020B0604020202020204"/>
              <a:ea typeface="ＭＳ Ｐゴシック" charset="0"/>
            </a:endParaRPr>
          </a:p>
        </p:txBody>
      </p:sp>
      <p:sp>
        <p:nvSpPr>
          <p:cNvPr id="13" name="Forme libre 27">
            <a:extLst>
              <a:ext uri="{FF2B5EF4-FFF2-40B4-BE49-F238E27FC236}">
                <a16:creationId xmlns:a16="http://schemas.microsoft.com/office/drawing/2014/main" id="{A210C7DA-8C11-B6AA-E007-BA38242314EC}"/>
              </a:ext>
            </a:extLst>
          </p:cNvPr>
          <p:cNvSpPr/>
          <p:nvPr/>
        </p:nvSpPr>
        <p:spPr>
          <a:xfrm>
            <a:off x="3525768" y="1415166"/>
            <a:ext cx="6431564" cy="4301351"/>
          </a:xfrm>
          <a:custGeom>
            <a:avLst/>
            <a:gdLst>
              <a:gd name="connsiteX0" fmla="*/ 2879327 w 3048014"/>
              <a:gd name="connsiteY0" fmla="*/ 1946185 h 1966798"/>
              <a:gd name="connsiteX1" fmla="*/ 2879395 w 3048014"/>
              <a:gd name="connsiteY1" fmla="*/ 1946185 h 1966798"/>
              <a:gd name="connsiteX2" fmla="*/ 2984051 w 3048014"/>
              <a:gd name="connsiteY2" fmla="*/ 1902847 h 1966798"/>
              <a:gd name="connsiteX3" fmla="*/ 3027464 w 3048014"/>
              <a:gd name="connsiteY3" fmla="*/ 1797802 h 1966798"/>
              <a:gd name="connsiteX4" fmla="*/ 2984051 w 3048014"/>
              <a:gd name="connsiteY4" fmla="*/ 1693097 h 1966798"/>
              <a:gd name="connsiteX5" fmla="*/ 2879395 w 3048014"/>
              <a:gd name="connsiteY5" fmla="*/ 1649760 h 1966798"/>
              <a:gd name="connsiteX6" fmla="*/ 2879327 w 3048014"/>
              <a:gd name="connsiteY6" fmla="*/ 1649760 h 1966798"/>
              <a:gd name="connsiteX7" fmla="*/ 343023 w 3048014"/>
              <a:gd name="connsiteY7" fmla="*/ 1650917 h 1966798"/>
              <a:gd name="connsiteX8" fmla="*/ 342955 w 3048014"/>
              <a:gd name="connsiteY8" fmla="*/ 1650917 h 1966798"/>
              <a:gd name="connsiteX9" fmla="*/ 223806 w 3048014"/>
              <a:gd name="connsiteY9" fmla="*/ 1601592 h 1966798"/>
              <a:gd name="connsiteX10" fmla="*/ 174404 w 3048014"/>
              <a:gd name="connsiteY10" fmla="*/ 1482123 h 1966798"/>
              <a:gd name="connsiteX11" fmla="*/ 223806 w 3048014"/>
              <a:gd name="connsiteY11" fmla="*/ 1362996 h 1966798"/>
              <a:gd name="connsiteX12" fmla="*/ 342887 w 3048014"/>
              <a:gd name="connsiteY12" fmla="*/ 1313671 h 1966798"/>
              <a:gd name="connsiteX13" fmla="*/ 343023 w 3048014"/>
              <a:gd name="connsiteY13" fmla="*/ 1313671 h 1966798"/>
              <a:gd name="connsiteX14" fmla="*/ 2424094 w 3048014"/>
              <a:gd name="connsiteY14" fmla="*/ 1314828 h 1966798"/>
              <a:gd name="connsiteX15" fmla="*/ 2424162 w 3048014"/>
              <a:gd name="connsiteY15" fmla="*/ 1314828 h 1966798"/>
              <a:gd name="connsiteX16" fmla="*/ 2528818 w 3048014"/>
              <a:gd name="connsiteY16" fmla="*/ 1271490 h 1966798"/>
              <a:gd name="connsiteX17" fmla="*/ 2572233 w 3048014"/>
              <a:gd name="connsiteY17" fmla="*/ 1166513 h 1966798"/>
              <a:gd name="connsiteX18" fmla="*/ 2528818 w 3048014"/>
              <a:gd name="connsiteY18" fmla="*/ 1061809 h 1966798"/>
              <a:gd name="connsiteX19" fmla="*/ 2424162 w 3048014"/>
              <a:gd name="connsiteY19" fmla="*/ 1018471 h 1966798"/>
              <a:gd name="connsiteX20" fmla="*/ 2424026 w 3048014"/>
              <a:gd name="connsiteY20" fmla="*/ 1018471 h 1966798"/>
              <a:gd name="connsiteX21" fmla="*/ 916317 w 3048014"/>
              <a:gd name="connsiteY21" fmla="*/ 1019559 h 1966798"/>
              <a:gd name="connsiteX22" fmla="*/ 916180 w 3048014"/>
              <a:gd name="connsiteY22" fmla="*/ 1019559 h 1966798"/>
              <a:gd name="connsiteX23" fmla="*/ 797099 w 3048014"/>
              <a:gd name="connsiteY23" fmla="*/ 970235 h 1966798"/>
              <a:gd name="connsiteX24" fmla="*/ 747697 w 3048014"/>
              <a:gd name="connsiteY24" fmla="*/ 850903 h 1966798"/>
              <a:gd name="connsiteX25" fmla="*/ 797099 w 3048014"/>
              <a:gd name="connsiteY25" fmla="*/ 731707 h 1966798"/>
              <a:gd name="connsiteX26" fmla="*/ 916180 w 3048014"/>
              <a:gd name="connsiteY26" fmla="*/ 682451 h 1966798"/>
              <a:gd name="connsiteX27" fmla="*/ 916385 w 3048014"/>
              <a:gd name="connsiteY27" fmla="*/ 682451 h 1966798"/>
              <a:gd name="connsiteX28" fmla="*/ 1850733 w 3048014"/>
              <a:gd name="connsiteY28" fmla="*/ 683403 h 1966798"/>
              <a:gd name="connsiteX29" fmla="*/ 1850869 w 3048014"/>
              <a:gd name="connsiteY29" fmla="*/ 683403 h 1966798"/>
              <a:gd name="connsiteX30" fmla="*/ 1955525 w 3048014"/>
              <a:gd name="connsiteY30" fmla="*/ 640065 h 1966798"/>
              <a:gd name="connsiteX31" fmla="*/ 1998939 w 3048014"/>
              <a:gd name="connsiteY31" fmla="*/ 535293 h 1966798"/>
              <a:gd name="connsiteX32" fmla="*/ 1955457 w 3048014"/>
              <a:gd name="connsiteY32" fmla="*/ 430520 h 1966798"/>
              <a:gd name="connsiteX33" fmla="*/ 1850869 w 3048014"/>
              <a:gd name="connsiteY33" fmla="*/ 387251 h 1966798"/>
              <a:gd name="connsiteX34" fmla="*/ 1850598 w 3048014"/>
              <a:gd name="connsiteY34" fmla="*/ 387251 h 1966798"/>
              <a:gd name="connsiteX35" fmla="*/ 1493285 w 3048014"/>
              <a:gd name="connsiteY35" fmla="*/ 387931 h 1966798"/>
              <a:gd name="connsiteX36" fmla="*/ 1492944 w 3048014"/>
              <a:gd name="connsiteY36" fmla="*/ 387931 h 1966798"/>
              <a:gd name="connsiteX37" fmla="*/ 1373930 w 3048014"/>
              <a:gd name="connsiteY37" fmla="*/ 338674 h 1966798"/>
              <a:gd name="connsiteX38" fmla="*/ 1324460 w 3048014"/>
              <a:gd name="connsiteY38" fmla="*/ 219274 h 1966798"/>
              <a:gd name="connsiteX39" fmla="*/ 1492944 w 3048014"/>
              <a:gd name="connsiteY39" fmla="*/ 50821 h 1966798"/>
              <a:gd name="connsiteX40" fmla="*/ 1603384 w 3048014"/>
              <a:gd name="connsiteY40" fmla="*/ 50821 h 1966798"/>
              <a:gd name="connsiteX41" fmla="*/ 1566979 w 3048014"/>
              <a:gd name="connsiteY41" fmla="*/ 14423 h 1966798"/>
              <a:gd name="connsiteX42" fmla="*/ 1581405 w 3048014"/>
              <a:gd name="connsiteY42" fmla="*/ 0 h 1966798"/>
              <a:gd name="connsiteX43" fmla="*/ 1642442 w 3048014"/>
              <a:gd name="connsiteY43" fmla="*/ 61026 h 1966798"/>
              <a:gd name="connsiteX44" fmla="*/ 1581405 w 3048014"/>
              <a:gd name="connsiteY44" fmla="*/ 122121 h 1966798"/>
              <a:gd name="connsiteX45" fmla="*/ 1566979 w 3048014"/>
              <a:gd name="connsiteY45" fmla="*/ 107698 h 1966798"/>
              <a:gd name="connsiteX46" fmla="*/ 1603384 w 3048014"/>
              <a:gd name="connsiteY46" fmla="*/ 71300 h 1966798"/>
              <a:gd name="connsiteX47" fmla="*/ 1492944 w 3048014"/>
              <a:gd name="connsiteY47" fmla="*/ 71300 h 1966798"/>
              <a:gd name="connsiteX48" fmla="*/ 1344874 w 3048014"/>
              <a:gd name="connsiteY48" fmla="*/ 219546 h 1966798"/>
              <a:gd name="connsiteX49" fmla="*/ 1388356 w 3048014"/>
              <a:gd name="connsiteY49" fmla="*/ 324319 h 1966798"/>
              <a:gd name="connsiteX50" fmla="*/ 1493285 w 3048014"/>
              <a:gd name="connsiteY50" fmla="*/ 367589 h 1966798"/>
              <a:gd name="connsiteX51" fmla="*/ 1850598 w 3048014"/>
              <a:gd name="connsiteY51" fmla="*/ 366908 h 1966798"/>
              <a:gd name="connsiteX52" fmla="*/ 1850937 w 3048014"/>
              <a:gd name="connsiteY52" fmla="*/ 366908 h 1966798"/>
              <a:gd name="connsiteX53" fmla="*/ 1969951 w 3048014"/>
              <a:gd name="connsiteY53" fmla="*/ 416165 h 1966798"/>
              <a:gd name="connsiteX54" fmla="*/ 2019421 w 3048014"/>
              <a:gd name="connsiteY54" fmla="*/ 535428 h 1966798"/>
              <a:gd name="connsiteX55" fmla="*/ 1970019 w 3048014"/>
              <a:gd name="connsiteY55" fmla="*/ 654624 h 1966798"/>
              <a:gd name="connsiteX56" fmla="*/ 1850937 w 3048014"/>
              <a:gd name="connsiteY56" fmla="*/ 703881 h 1966798"/>
              <a:gd name="connsiteX57" fmla="*/ 1850733 w 3048014"/>
              <a:gd name="connsiteY57" fmla="*/ 703881 h 1966798"/>
              <a:gd name="connsiteX58" fmla="*/ 916385 w 3048014"/>
              <a:gd name="connsiteY58" fmla="*/ 702929 h 1966798"/>
              <a:gd name="connsiteX59" fmla="*/ 916248 w 3048014"/>
              <a:gd name="connsiteY59" fmla="*/ 702929 h 1966798"/>
              <a:gd name="connsiteX60" fmla="*/ 811593 w 3048014"/>
              <a:gd name="connsiteY60" fmla="*/ 746267 h 1966798"/>
              <a:gd name="connsiteX61" fmla="*/ 768179 w 3048014"/>
              <a:gd name="connsiteY61" fmla="*/ 851243 h 1966798"/>
              <a:gd name="connsiteX62" fmla="*/ 811593 w 3048014"/>
              <a:gd name="connsiteY62" fmla="*/ 955948 h 1966798"/>
              <a:gd name="connsiteX63" fmla="*/ 916248 w 3048014"/>
              <a:gd name="connsiteY63" fmla="*/ 999285 h 1966798"/>
              <a:gd name="connsiteX64" fmla="*/ 916385 w 3048014"/>
              <a:gd name="connsiteY64" fmla="*/ 999285 h 1966798"/>
              <a:gd name="connsiteX65" fmla="*/ 2424094 w 3048014"/>
              <a:gd name="connsiteY65" fmla="*/ 998197 h 1966798"/>
              <a:gd name="connsiteX66" fmla="*/ 2424231 w 3048014"/>
              <a:gd name="connsiteY66" fmla="*/ 998197 h 1966798"/>
              <a:gd name="connsiteX67" fmla="*/ 2543313 w 3048014"/>
              <a:gd name="connsiteY67" fmla="*/ 1047521 h 1966798"/>
              <a:gd name="connsiteX68" fmla="*/ 2592715 w 3048014"/>
              <a:gd name="connsiteY68" fmla="*/ 1166990 h 1966798"/>
              <a:gd name="connsiteX69" fmla="*/ 2543313 w 3048014"/>
              <a:gd name="connsiteY69" fmla="*/ 1286118 h 1966798"/>
              <a:gd name="connsiteX70" fmla="*/ 2424231 w 3048014"/>
              <a:gd name="connsiteY70" fmla="*/ 1335442 h 1966798"/>
              <a:gd name="connsiteX71" fmla="*/ 2424162 w 3048014"/>
              <a:gd name="connsiteY71" fmla="*/ 1335442 h 1966798"/>
              <a:gd name="connsiteX72" fmla="*/ 343092 w 3048014"/>
              <a:gd name="connsiteY72" fmla="*/ 1334285 h 1966798"/>
              <a:gd name="connsiteX73" fmla="*/ 343023 w 3048014"/>
              <a:gd name="connsiteY73" fmla="*/ 1334285 h 1966798"/>
              <a:gd name="connsiteX74" fmla="*/ 238368 w 3048014"/>
              <a:gd name="connsiteY74" fmla="*/ 1377623 h 1966798"/>
              <a:gd name="connsiteX75" fmla="*/ 194954 w 3048014"/>
              <a:gd name="connsiteY75" fmla="*/ 1482668 h 1966798"/>
              <a:gd name="connsiteX76" fmla="*/ 238368 w 3048014"/>
              <a:gd name="connsiteY76" fmla="*/ 1587373 h 1966798"/>
              <a:gd name="connsiteX77" fmla="*/ 343023 w 3048014"/>
              <a:gd name="connsiteY77" fmla="*/ 1630711 h 1966798"/>
              <a:gd name="connsiteX78" fmla="*/ 343092 w 3048014"/>
              <a:gd name="connsiteY78" fmla="*/ 1630711 h 1966798"/>
              <a:gd name="connsiteX79" fmla="*/ 2879395 w 3048014"/>
              <a:gd name="connsiteY79" fmla="*/ 1629554 h 1966798"/>
              <a:gd name="connsiteX80" fmla="*/ 2879463 w 3048014"/>
              <a:gd name="connsiteY80" fmla="*/ 1629554 h 1966798"/>
              <a:gd name="connsiteX81" fmla="*/ 2998613 w 3048014"/>
              <a:gd name="connsiteY81" fmla="*/ 1678878 h 1966798"/>
              <a:gd name="connsiteX82" fmla="*/ 3048015 w 3048014"/>
              <a:gd name="connsiteY82" fmla="*/ 1798346 h 1966798"/>
              <a:gd name="connsiteX83" fmla="*/ 2998613 w 3048014"/>
              <a:gd name="connsiteY83" fmla="*/ 1917474 h 1966798"/>
              <a:gd name="connsiteX84" fmla="*/ 2879531 w 3048014"/>
              <a:gd name="connsiteY84" fmla="*/ 1966799 h 1966798"/>
              <a:gd name="connsiteX85" fmla="*/ 2879463 w 3048014"/>
              <a:gd name="connsiteY85" fmla="*/ 1966799 h 1966798"/>
              <a:gd name="connsiteX86" fmla="*/ 0 w 3048014"/>
              <a:gd name="connsiteY86" fmla="*/ 1965574 h 1966798"/>
              <a:gd name="connsiteX87" fmla="*/ 0 w 3048014"/>
              <a:gd name="connsiteY87" fmla="*/ 1945164 h 1966798"/>
              <a:gd name="connsiteX88" fmla="*/ 2879463 w 3048014"/>
              <a:gd name="connsiteY88" fmla="*/ 1946388 h 1966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048014" h="1966798">
                <a:moveTo>
                  <a:pt x="2879327" y="1946185"/>
                </a:moveTo>
                <a:lnTo>
                  <a:pt x="2879395" y="1946185"/>
                </a:lnTo>
                <a:cubicBezTo>
                  <a:pt x="2918930" y="1946185"/>
                  <a:pt x="2956083" y="1930809"/>
                  <a:pt x="2984051" y="1902847"/>
                </a:cubicBezTo>
                <a:cubicBezTo>
                  <a:pt x="3012018" y="1874884"/>
                  <a:pt x="3027464" y="1837670"/>
                  <a:pt x="3027464" y="1797802"/>
                </a:cubicBezTo>
                <a:cubicBezTo>
                  <a:pt x="3027464" y="1757934"/>
                  <a:pt x="3012086" y="1721059"/>
                  <a:pt x="2984051" y="1693097"/>
                </a:cubicBezTo>
                <a:cubicBezTo>
                  <a:pt x="2956083" y="1665135"/>
                  <a:pt x="2918930" y="1649760"/>
                  <a:pt x="2879395" y="1649760"/>
                </a:cubicBezTo>
                <a:lnTo>
                  <a:pt x="2879327" y="1649760"/>
                </a:lnTo>
                <a:lnTo>
                  <a:pt x="343023" y="1650917"/>
                </a:lnTo>
                <a:lnTo>
                  <a:pt x="342955" y="1650917"/>
                </a:lnTo>
                <a:cubicBezTo>
                  <a:pt x="297977" y="1650917"/>
                  <a:pt x="255652" y="1633431"/>
                  <a:pt x="223806" y="1601592"/>
                </a:cubicBezTo>
                <a:cubicBezTo>
                  <a:pt x="191960" y="1569751"/>
                  <a:pt x="174404" y="1527434"/>
                  <a:pt x="174404" y="1482123"/>
                </a:cubicBezTo>
                <a:cubicBezTo>
                  <a:pt x="174404" y="1437085"/>
                  <a:pt x="191960" y="1394768"/>
                  <a:pt x="223806" y="1362996"/>
                </a:cubicBezTo>
                <a:cubicBezTo>
                  <a:pt x="255652" y="1331224"/>
                  <a:pt x="297908" y="1313671"/>
                  <a:pt x="342887" y="1313671"/>
                </a:cubicBezTo>
                <a:lnTo>
                  <a:pt x="343023" y="1313671"/>
                </a:lnTo>
                <a:lnTo>
                  <a:pt x="2424094" y="1314828"/>
                </a:lnTo>
                <a:lnTo>
                  <a:pt x="2424162" y="1314828"/>
                </a:lnTo>
                <a:cubicBezTo>
                  <a:pt x="2463697" y="1314828"/>
                  <a:pt x="2500852" y="1299452"/>
                  <a:pt x="2528818" y="1271490"/>
                </a:cubicBezTo>
                <a:cubicBezTo>
                  <a:pt x="2556786" y="1243528"/>
                  <a:pt x="2572233" y="1206314"/>
                  <a:pt x="2572233" y="1166513"/>
                </a:cubicBezTo>
                <a:cubicBezTo>
                  <a:pt x="2572233" y="1126713"/>
                  <a:pt x="2556786" y="1089771"/>
                  <a:pt x="2528818" y="1061809"/>
                </a:cubicBezTo>
                <a:cubicBezTo>
                  <a:pt x="2500852" y="1033846"/>
                  <a:pt x="2463697" y="1018471"/>
                  <a:pt x="2424162" y="1018471"/>
                </a:cubicBezTo>
                <a:lnTo>
                  <a:pt x="2424026" y="1018471"/>
                </a:lnTo>
                <a:lnTo>
                  <a:pt x="916317" y="1019559"/>
                </a:lnTo>
                <a:lnTo>
                  <a:pt x="916180" y="1019559"/>
                </a:lnTo>
                <a:cubicBezTo>
                  <a:pt x="871202" y="1019559"/>
                  <a:pt x="828877" y="1002075"/>
                  <a:pt x="797099" y="970235"/>
                </a:cubicBezTo>
                <a:cubicBezTo>
                  <a:pt x="765253" y="938395"/>
                  <a:pt x="747697" y="896077"/>
                  <a:pt x="747697" y="850903"/>
                </a:cubicBezTo>
                <a:cubicBezTo>
                  <a:pt x="747697" y="805864"/>
                  <a:pt x="765253" y="763547"/>
                  <a:pt x="797099" y="731707"/>
                </a:cubicBezTo>
                <a:cubicBezTo>
                  <a:pt x="828945" y="699935"/>
                  <a:pt x="871202" y="682451"/>
                  <a:pt x="916180" y="682451"/>
                </a:cubicBezTo>
                <a:lnTo>
                  <a:pt x="916385" y="682451"/>
                </a:lnTo>
                <a:lnTo>
                  <a:pt x="1850733" y="683403"/>
                </a:lnTo>
                <a:lnTo>
                  <a:pt x="1850869" y="683403"/>
                </a:lnTo>
                <a:cubicBezTo>
                  <a:pt x="1890405" y="683403"/>
                  <a:pt x="1927558" y="668028"/>
                  <a:pt x="1955525" y="640065"/>
                </a:cubicBezTo>
                <a:cubicBezTo>
                  <a:pt x="1983560" y="612103"/>
                  <a:pt x="1998939" y="574888"/>
                  <a:pt x="1998939" y="535293"/>
                </a:cubicBezTo>
                <a:cubicBezTo>
                  <a:pt x="1998939" y="495697"/>
                  <a:pt x="1983492" y="458482"/>
                  <a:pt x="1955457" y="430520"/>
                </a:cubicBezTo>
                <a:cubicBezTo>
                  <a:pt x="1927490" y="402626"/>
                  <a:pt x="1890337" y="387251"/>
                  <a:pt x="1850869" y="387251"/>
                </a:cubicBezTo>
                <a:lnTo>
                  <a:pt x="1850598" y="387251"/>
                </a:lnTo>
                <a:cubicBezTo>
                  <a:pt x="1850598" y="387251"/>
                  <a:pt x="1493285" y="387931"/>
                  <a:pt x="1493285" y="387931"/>
                </a:cubicBezTo>
                <a:lnTo>
                  <a:pt x="1492944" y="387931"/>
                </a:lnTo>
                <a:cubicBezTo>
                  <a:pt x="1448033" y="387931"/>
                  <a:pt x="1405777" y="370446"/>
                  <a:pt x="1373930" y="338674"/>
                </a:cubicBezTo>
                <a:cubicBezTo>
                  <a:pt x="1342017" y="306834"/>
                  <a:pt x="1324460" y="264517"/>
                  <a:pt x="1324460" y="219274"/>
                </a:cubicBezTo>
                <a:cubicBezTo>
                  <a:pt x="1324460" y="126407"/>
                  <a:pt x="1400060" y="50821"/>
                  <a:pt x="1492944" y="50821"/>
                </a:cubicBezTo>
                <a:lnTo>
                  <a:pt x="1603384" y="50821"/>
                </a:lnTo>
                <a:cubicBezTo>
                  <a:pt x="1603384" y="50821"/>
                  <a:pt x="1566979" y="14423"/>
                  <a:pt x="1566979" y="14423"/>
                </a:cubicBezTo>
                <a:lnTo>
                  <a:pt x="1581405" y="0"/>
                </a:lnTo>
                <a:lnTo>
                  <a:pt x="1642442" y="61026"/>
                </a:lnTo>
                <a:lnTo>
                  <a:pt x="1581405" y="122121"/>
                </a:lnTo>
                <a:lnTo>
                  <a:pt x="1566979" y="107698"/>
                </a:lnTo>
                <a:lnTo>
                  <a:pt x="1603384" y="71300"/>
                </a:lnTo>
                <a:lnTo>
                  <a:pt x="1492944" y="71300"/>
                </a:lnTo>
                <a:cubicBezTo>
                  <a:pt x="1411288" y="71300"/>
                  <a:pt x="1344874" y="137701"/>
                  <a:pt x="1344874" y="219546"/>
                </a:cubicBezTo>
                <a:cubicBezTo>
                  <a:pt x="1344874" y="259142"/>
                  <a:pt x="1360321" y="296357"/>
                  <a:pt x="1388356" y="324319"/>
                </a:cubicBezTo>
                <a:cubicBezTo>
                  <a:pt x="1416391" y="352281"/>
                  <a:pt x="1453885" y="367725"/>
                  <a:pt x="1493285" y="367589"/>
                </a:cubicBezTo>
                <a:lnTo>
                  <a:pt x="1850598" y="366908"/>
                </a:lnTo>
                <a:lnTo>
                  <a:pt x="1850937" y="366908"/>
                </a:lnTo>
                <a:cubicBezTo>
                  <a:pt x="1895916" y="366908"/>
                  <a:pt x="1938174" y="384393"/>
                  <a:pt x="1969951" y="416165"/>
                </a:cubicBezTo>
                <a:cubicBezTo>
                  <a:pt x="2001865" y="448005"/>
                  <a:pt x="2019421" y="490322"/>
                  <a:pt x="2019421" y="535428"/>
                </a:cubicBezTo>
                <a:cubicBezTo>
                  <a:pt x="2019421" y="580468"/>
                  <a:pt x="2001865" y="622785"/>
                  <a:pt x="1970019" y="654624"/>
                </a:cubicBezTo>
                <a:cubicBezTo>
                  <a:pt x="1938174" y="686396"/>
                  <a:pt x="1895916" y="703881"/>
                  <a:pt x="1850937" y="703881"/>
                </a:cubicBezTo>
                <a:lnTo>
                  <a:pt x="1850733" y="703881"/>
                </a:lnTo>
                <a:cubicBezTo>
                  <a:pt x="1850733" y="703881"/>
                  <a:pt x="916385" y="702929"/>
                  <a:pt x="916385" y="702929"/>
                </a:cubicBezTo>
                <a:lnTo>
                  <a:pt x="916248" y="702929"/>
                </a:lnTo>
                <a:cubicBezTo>
                  <a:pt x="876714" y="702929"/>
                  <a:pt x="839560" y="718304"/>
                  <a:pt x="811593" y="746267"/>
                </a:cubicBezTo>
                <a:cubicBezTo>
                  <a:pt x="783557" y="774229"/>
                  <a:pt x="768179" y="811443"/>
                  <a:pt x="768179" y="851243"/>
                </a:cubicBezTo>
                <a:cubicBezTo>
                  <a:pt x="768179" y="891043"/>
                  <a:pt x="783626" y="927986"/>
                  <a:pt x="811593" y="955948"/>
                </a:cubicBezTo>
                <a:cubicBezTo>
                  <a:pt x="839560" y="983910"/>
                  <a:pt x="876714" y="999285"/>
                  <a:pt x="916248" y="999285"/>
                </a:cubicBezTo>
                <a:lnTo>
                  <a:pt x="916385" y="999285"/>
                </a:lnTo>
                <a:lnTo>
                  <a:pt x="2424094" y="998197"/>
                </a:lnTo>
                <a:lnTo>
                  <a:pt x="2424231" y="998197"/>
                </a:lnTo>
                <a:cubicBezTo>
                  <a:pt x="2469209" y="998197"/>
                  <a:pt x="2511534" y="1015682"/>
                  <a:pt x="2543313" y="1047521"/>
                </a:cubicBezTo>
                <a:cubicBezTo>
                  <a:pt x="2575158" y="1079362"/>
                  <a:pt x="2592715" y="1121679"/>
                  <a:pt x="2592715" y="1166990"/>
                </a:cubicBezTo>
                <a:cubicBezTo>
                  <a:pt x="2592715" y="1212301"/>
                  <a:pt x="2575158" y="1254345"/>
                  <a:pt x="2543313" y="1286118"/>
                </a:cubicBezTo>
                <a:cubicBezTo>
                  <a:pt x="2511466" y="1317889"/>
                  <a:pt x="2469209" y="1335442"/>
                  <a:pt x="2424231" y="1335442"/>
                </a:cubicBezTo>
                <a:lnTo>
                  <a:pt x="2424162" y="1335442"/>
                </a:lnTo>
                <a:lnTo>
                  <a:pt x="343092" y="1334285"/>
                </a:lnTo>
                <a:lnTo>
                  <a:pt x="343023" y="1334285"/>
                </a:lnTo>
                <a:cubicBezTo>
                  <a:pt x="303488" y="1334285"/>
                  <a:pt x="266335" y="1349661"/>
                  <a:pt x="238368" y="1377623"/>
                </a:cubicBezTo>
                <a:cubicBezTo>
                  <a:pt x="210401" y="1405585"/>
                  <a:pt x="194954" y="1442800"/>
                  <a:pt x="194954" y="1482668"/>
                </a:cubicBezTo>
                <a:cubicBezTo>
                  <a:pt x="194954" y="1522196"/>
                  <a:pt x="210401" y="1559410"/>
                  <a:pt x="238368" y="1587373"/>
                </a:cubicBezTo>
                <a:cubicBezTo>
                  <a:pt x="266335" y="1615335"/>
                  <a:pt x="303488" y="1630711"/>
                  <a:pt x="343023" y="1630711"/>
                </a:cubicBezTo>
                <a:lnTo>
                  <a:pt x="343092" y="1630711"/>
                </a:lnTo>
                <a:lnTo>
                  <a:pt x="2879395" y="1629554"/>
                </a:lnTo>
                <a:lnTo>
                  <a:pt x="2879463" y="1629554"/>
                </a:lnTo>
                <a:cubicBezTo>
                  <a:pt x="2924442" y="1629554"/>
                  <a:pt x="2966767" y="1647038"/>
                  <a:pt x="2998613" y="1678878"/>
                </a:cubicBezTo>
                <a:cubicBezTo>
                  <a:pt x="3030458" y="1710718"/>
                  <a:pt x="3048015" y="1753036"/>
                  <a:pt x="3048015" y="1798346"/>
                </a:cubicBezTo>
                <a:cubicBezTo>
                  <a:pt x="3048015" y="1843657"/>
                  <a:pt x="3030458" y="1885702"/>
                  <a:pt x="2998613" y="1917474"/>
                </a:cubicBezTo>
                <a:cubicBezTo>
                  <a:pt x="2966767" y="1949246"/>
                  <a:pt x="2924511" y="1966799"/>
                  <a:pt x="2879531" y="1966799"/>
                </a:cubicBezTo>
                <a:lnTo>
                  <a:pt x="2879463" y="1966799"/>
                </a:lnTo>
                <a:lnTo>
                  <a:pt x="0" y="1965574"/>
                </a:lnTo>
                <a:lnTo>
                  <a:pt x="0" y="1945164"/>
                </a:lnTo>
                <a:cubicBezTo>
                  <a:pt x="0" y="1945164"/>
                  <a:pt x="2879463" y="1946388"/>
                  <a:pt x="2879463" y="1946388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6804" cap="flat">
            <a:noFill/>
            <a:prstDash val="solid"/>
            <a:miter/>
          </a:ln>
        </p:spPr>
        <p:txBody>
          <a:bodyPr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fr-FR" sz="3200" dirty="0">
              <a:solidFill>
                <a:srgbClr val="393939"/>
              </a:solidFill>
              <a:latin typeface="Arial" panose="020B0604020202020204"/>
              <a:ea typeface="ＭＳ Ｐゴシック" charset="0"/>
            </a:endParaRPr>
          </a:p>
        </p:txBody>
      </p:sp>
      <p:sp>
        <p:nvSpPr>
          <p:cNvPr id="14" name="TextBox 67">
            <a:extLst>
              <a:ext uri="{FF2B5EF4-FFF2-40B4-BE49-F238E27FC236}">
                <a16:creationId xmlns:a16="http://schemas.microsoft.com/office/drawing/2014/main" id="{723FD24D-16AC-A413-D554-52622919B568}"/>
              </a:ext>
            </a:extLst>
          </p:cNvPr>
          <p:cNvSpPr txBox="1"/>
          <p:nvPr/>
        </p:nvSpPr>
        <p:spPr>
          <a:xfrm>
            <a:off x="5714491" y="3099252"/>
            <a:ext cx="1947860" cy="353943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noProof="1">
                <a:solidFill>
                  <a:srgbClr val="FFFFFF"/>
                </a:solidFill>
                <a:latin typeface="Arial" panose="020B0604020202020204"/>
                <a:ea typeface="ＭＳ Ｐゴシック" charset="0"/>
              </a:rPr>
              <a:t>IA Escalada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F9B2A06-959E-480D-9002-EA352E7BABB7}"/>
              </a:ext>
            </a:extLst>
          </p:cNvPr>
          <p:cNvGrpSpPr/>
          <p:nvPr/>
        </p:nvGrpSpPr>
        <p:grpSpPr>
          <a:xfrm>
            <a:off x="4499267" y="3712570"/>
            <a:ext cx="4378311" cy="504694"/>
            <a:chOff x="4227855" y="4267206"/>
            <a:chExt cx="4378311" cy="504694"/>
          </a:xfrm>
        </p:grpSpPr>
        <p:sp>
          <p:nvSpPr>
            <p:cNvPr id="16" name="Forme libre 24">
              <a:extLst>
                <a:ext uri="{FF2B5EF4-FFF2-40B4-BE49-F238E27FC236}">
                  <a16:creationId xmlns:a16="http://schemas.microsoft.com/office/drawing/2014/main" id="{CE02ADE2-FE53-B653-92E2-9B7D94EE3CD8}"/>
                </a:ext>
              </a:extLst>
            </p:cNvPr>
            <p:cNvSpPr/>
            <p:nvPr/>
          </p:nvSpPr>
          <p:spPr>
            <a:xfrm>
              <a:off x="4227855" y="4267206"/>
              <a:ext cx="4378311" cy="504694"/>
            </a:xfrm>
            <a:custGeom>
              <a:avLst/>
              <a:gdLst>
                <a:gd name="connsiteX0" fmla="*/ 230815 w 2074947"/>
                <a:gd name="connsiteY0" fmla="*/ 0 h 230772"/>
                <a:gd name="connsiteX1" fmla="*/ 461560 w 2074947"/>
                <a:gd name="connsiteY1" fmla="*/ 0 h 230772"/>
                <a:gd name="connsiteX2" fmla="*/ 690401 w 2074947"/>
                <a:gd name="connsiteY2" fmla="*/ 0 h 230772"/>
                <a:gd name="connsiteX3" fmla="*/ 692307 w 2074947"/>
                <a:gd name="connsiteY3" fmla="*/ 0 h 230772"/>
                <a:gd name="connsiteX4" fmla="*/ 921148 w 2074947"/>
                <a:gd name="connsiteY4" fmla="*/ 0 h 230772"/>
                <a:gd name="connsiteX5" fmla="*/ 1151894 w 2074947"/>
                <a:gd name="connsiteY5" fmla="*/ 0 h 230772"/>
                <a:gd name="connsiteX6" fmla="*/ 1382640 w 2074947"/>
                <a:gd name="connsiteY6" fmla="*/ 0 h 230772"/>
                <a:gd name="connsiteX7" fmla="*/ 1613386 w 2074947"/>
                <a:gd name="connsiteY7" fmla="*/ 0 h 230772"/>
                <a:gd name="connsiteX8" fmla="*/ 1844133 w 2074947"/>
                <a:gd name="connsiteY8" fmla="*/ 0 h 230772"/>
                <a:gd name="connsiteX9" fmla="*/ 1959540 w 2074947"/>
                <a:gd name="connsiteY9" fmla="*/ 0 h 230772"/>
                <a:gd name="connsiteX10" fmla="*/ 2074947 w 2074947"/>
                <a:gd name="connsiteY10" fmla="*/ 115386 h 230772"/>
                <a:gd name="connsiteX11" fmla="*/ 2074947 w 2074947"/>
                <a:gd name="connsiteY11" fmla="*/ 115386 h 230772"/>
                <a:gd name="connsiteX12" fmla="*/ 1959540 w 2074947"/>
                <a:gd name="connsiteY12" fmla="*/ 230772 h 230772"/>
                <a:gd name="connsiteX13" fmla="*/ 1844133 w 2074947"/>
                <a:gd name="connsiteY13" fmla="*/ 230772 h 230772"/>
                <a:gd name="connsiteX14" fmla="*/ 1613386 w 2074947"/>
                <a:gd name="connsiteY14" fmla="*/ 230772 h 230772"/>
                <a:gd name="connsiteX15" fmla="*/ 1382640 w 2074947"/>
                <a:gd name="connsiteY15" fmla="*/ 230772 h 230772"/>
                <a:gd name="connsiteX16" fmla="*/ 1151894 w 2074947"/>
                <a:gd name="connsiteY16" fmla="*/ 230772 h 230772"/>
                <a:gd name="connsiteX17" fmla="*/ 921148 w 2074947"/>
                <a:gd name="connsiteY17" fmla="*/ 230772 h 230772"/>
                <a:gd name="connsiteX18" fmla="*/ 692307 w 2074947"/>
                <a:gd name="connsiteY18" fmla="*/ 230772 h 230772"/>
                <a:gd name="connsiteX19" fmla="*/ 690401 w 2074947"/>
                <a:gd name="connsiteY19" fmla="*/ 230772 h 230772"/>
                <a:gd name="connsiteX20" fmla="*/ 461560 w 2074947"/>
                <a:gd name="connsiteY20" fmla="*/ 230772 h 230772"/>
                <a:gd name="connsiteX21" fmla="*/ 230815 w 2074947"/>
                <a:gd name="connsiteY21" fmla="*/ 230772 h 230772"/>
                <a:gd name="connsiteX22" fmla="*/ 115407 w 2074947"/>
                <a:gd name="connsiteY22" fmla="*/ 230772 h 230772"/>
                <a:gd name="connsiteX23" fmla="*/ 0 w 2074947"/>
                <a:gd name="connsiteY23" fmla="*/ 115386 h 230772"/>
                <a:gd name="connsiteX24" fmla="*/ 0 w 2074947"/>
                <a:gd name="connsiteY24" fmla="*/ 115386 h 230772"/>
                <a:gd name="connsiteX25" fmla="*/ 115407 w 2074947"/>
                <a:gd name="connsiteY25" fmla="*/ 0 h 230772"/>
                <a:gd name="connsiteX26" fmla="*/ 230815 w 2074947"/>
                <a:gd name="connsiteY26" fmla="*/ 0 h 23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74947" h="230772">
                  <a:moveTo>
                    <a:pt x="230815" y="0"/>
                  </a:moveTo>
                  <a:lnTo>
                    <a:pt x="461560" y="0"/>
                  </a:lnTo>
                  <a:cubicBezTo>
                    <a:pt x="461560" y="0"/>
                    <a:pt x="690401" y="0"/>
                    <a:pt x="690401" y="0"/>
                  </a:cubicBezTo>
                  <a:lnTo>
                    <a:pt x="692307" y="0"/>
                  </a:lnTo>
                  <a:cubicBezTo>
                    <a:pt x="692307" y="0"/>
                    <a:pt x="921148" y="0"/>
                    <a:pt x="921148" y="0"/>
                  </a:cubicBezTo>
                  <a:lnTo>
                    <a:pt x="1151894" y="0"/>
                  </a:lnTo>
                  <a:cubicBezTo>
                    <a:pt x="1151894" y="0"/>
                    <a:pt x="1382640" y="0"/>
                    <a:pt x="1382640" y="0"/>
                  </a:cubicBezTo>
                  <a:lnTo>
                    <a:pt x="1613386" y="0"/>
                  </a:lnTo>
                  <a:cubicBezTo>
                    <a:pt x="1613386" y="0"/>
                    <a:pt x="1844133" y="0"/>
                    <a:pt x="1844133" y="0"/>
                  </a:cubicBezTo>
                  <a:lnTo>
                    <a:pt x="1959540" y="0"/>
                  </a:lnTo>
                  <a:cubicBezTo>
                    <a:pt x="2023231" y="0"/>
                    <a:pt x="2074947" y="51638"/>
                    <a:pt x="2074947" y="115386"/>
                  </a:cubicBezTo>
                  <a:lnTo>
                    <a:pt x="2074947" y="115386"/>
                  </a:lnTo>
                  <a:cubicBezTo>
                    <a:pt x="2074947" y="179065"/>
                    <a:pt x="2023299" y="230772"/>
                    <a:pt x="1959540" y="230772"/>
                  </a:cubicBezTo>
                  <a:lnTo>
                    <a:pt x="1844133" y="230772"/>
                  </a:lnTo>
                  <a:cubicBezTo>
                    <a:pt x="1844133" y="230772"/>
                    <a:pt x="1613386" y="230772"/>
                    <a:pt x="1613386" y="230772"/>
                  </a:cubicBezTo>
                  <a:lnTo>
                    <a:pt x="1382640" y="230772"/>
                  </a:lnTo>
                  <a:cubicBezTo>
                    <a:pt x="1382640" y="230772"/>
                    <a:pt x="1151894" y="230772"/>
                    <a:pt x="1151894" y="230772"/>
                  </a:cubicBezTo>
                  <a:lnTo>
                    <a:pt x="921148" y="230772"/>
                  </a:lnTo>
                  <a:cubicBezTo>
                    <a:pt x="921148" y="230772"/>
                    <a:pt x="692307" y="230772"/>
                    <a:pt x="692307" y="230772"/>
                  </a:cubicBezTo>
                  <a:lnTo>
                    <a:pt x="690401" y="230772"/>
                  </a:lnTo>
                  <a:cubicBezTo>
                    <a:pt x="690401" y="230772"/>
                    <a:pt x="461560" y="230772"/>
                    <a:pt x="461560" y="230772"/>
                  </a:cubicBezTo>
                  <a:lnTo>
                    <a:pt x="230815" y="230772"/>
                  </a:lnTo>
                  <a:cubicBezTo>
                    <a:pt x="230815" y="230772"/>
                    <a:pt x="115407" y="230772"/>
                    <a:pt x="115407" y="230772"/>
                  </a:cubicBezTo>
                  <a:cubicBezTo>
                    <a:pt x="51715" y="230772"/>
                    <a:pt x="0" y="179134"/>
                    <a:pt x="0" y="115386"/>
                  </a:cubicBezTo>
                  <a:lnTo>
                    <a:pt x="0" y="115386"/>
                  </a:lnTo>
                  <a:cubicBezTo>
                    <a:pt x="0" y="51706"/>
                    <a:pt x="51647" y="0"/>
                    <a:pt x="115407" y="0"/>
                  </a:cubicBezTo>
                  <a:lnTo>
                    <a:pt x="230815" y="0"/>
                  </a:lnTo>
                  <a:close/>
                </a:path>
              </a:pathLst>
            </a:custGeom>
            <a:solidFill>
              <a:schemeClr val="accent2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8013" fontAlgn="base">
                <a:spcBef>
                  <a:spcPct val="0"/>
                </a:spcBef>
                <a:spcAft>
                  <a:spcPct val="0"/>
                </a:spcAft>
              </a:pPr>
              <a:endParaRPr lang="fr-FR" sz="1700">
                <a:solidFill>
                  <a:srgbClr val="393939"/>
                </a:solidFill>
                <a:latin typeface="Arial" panose="020B0604020202020204"/>
                <a:ea typeface="ＭＳ Ｐゴシック" charset="0"/>
              </a:endParaRPr>
            </a:p>
          </p:txBody>
        </p:sp>
        <p:sp>
          <p:nvSpPr>
            <p:cNvPr id="17" name="TextBox 67">
              <a:extLst>
                <a:ext uri="{FF2B5EF4-FFF2-40B4-BE49-F238E27FC236}">
                  <a16:creationId xmlns:a16="http://schemas.microsoft.com/office/drawing/2014/main" id="{735153C4-0A21-E918-A45E-149D9CC6126F}"/>
                </a:ext>
              </a:extLst>
            </p:cNvPr>
            <p:cNvSpPr txBox="1"/>
            <p:nvPr/>
          </p:nvSpPr>
          <p:spPr>
            <a:xfrm>
              <a:off x="5443080" y="4342581"/>
              <a:ext cx="1947860" cy="353943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 defTabSz="608013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700" b="1" noProof="1">
                  <a:solidFill>
                    <a:srgbClr val="0070C0"/>
                  </a:solidFill>
                  <a:latin typeface="Arial" panose="020B0604020202020204"/>
                  <a:ea typeface="ＭＳ Ｐゴシック" charset="0"/>
                </a:rPr>
                <a:t>IA Alineada</a:t>
              </a:r>
            </a:p>
          </p:txBody>
        </p:sp>
      </p:grpSp>
      <p:sp>
        <p:nvSpPr>
          <p:cNvPr id="18" name="TextBox 67">
            <a:extLst>
              <a:ext uri="{FF2B5EF4-FFF2-40B4-BE49-F238E27FC236}">
                <a16:creationId xmlns:a16="http://schemas.microsoft.com/office/drawing/2014/main" id="{FDE33F54-34D6-ADDD-AC5A-D3746951C3CA}"/>
              </a:ext>
            </a:extLst>
          </p:cNvPr>
          <p:cNvSpPr txBox="1"/>
          <p:nvPr/>
        </p:nvSpPr>
        <p:spPr>
          <a:xfrm>
            <a:off x="5500857" y="4497823"/>
            <a:ext cx="2432672" cy="353943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noProof="1">
                <a:solidFill>
                  <a:srgbClr val="FFFFFF"/>
                </a:solidFill>
                <a:latin typeface="Arial" panose="020B0604020202020204"/>
                <a:ea typeface="ＭＳ Ｐゴシック" charset="0"/>
              </a:rPr>
              <a:t>IA implementada</a:t>
            </a:r>
          </a:p>
        </p:txBody>
      </p:sp>
      <p:sp>
        <p:nvSpPr>
          <p:cNvPr id="19" name="TextBox 67">
            <a:extLst>
              <a:ext uri="{FF2B5EF4-FFF2-40B4-BE49-F238E27FC236}">
                <a16:creationId xmlns:a16="http://schemas.microsoft.com/office/drawing/2014/main" id="{61F4121E-8939-DBF1-663C-3DED4E91C822}"/>
              </a:ext>
            </a:extLst>
          </p:cNvPr>
          <p:cNvSpPr txBox="1"/>
          <p:nvPr/>
        </p:nvSpPr>
        <p:spPr>
          <a:xfrm>
            <a:off x="5589404" y="5156061"/>
            <a:ext cx="2198034" cy="353943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r>
              <a:rPr lang="en-US" sz="1700" b="1" noProof="1">
                <a:solidFill>
                  <a:srgbClr val="FFFFFF"/>
                </a:solidFill>
                <a:latin typeface="Arial" panose="020B0604020202020204"/>
                <a:ea typeface="ＭＳ Ｐゴシック" charset="0"/>
              </a:rPr>
              <a:t>IA exploratoria</a:t>
            </a:r>
          </a:p>
        </p:txBody>
      </p:sp>
      <p:pic>
        <p:nvPicPr>
          <p:cNvPr id="20" name="Graphic 31" descr="Trophy">
            <a:extLst>
              <a:ext uri="{FF2B5EF4-FFF2-40B4-BE49-F238E27FC236}">
                <a16:creationId xmlns:a16="http://schemas.microsoft.com/office/drawing/2014/main" id="{922E64EB-95F7-1CEB-E3A3-207D5B44B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6505" y="1706911"/>
            <a:ext cx="363835" cy="377094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BC2E478C-6A86-4093-8216-662421F03198}"/>
              </a:ext>
            </a:extLst>
          </p:cNvPr>
          <p:cNvSpPr/>
          <p:nvPr/>
        </p:nvSpPr>
        <p:spPr>
          <a:xfrm>
            <a:off x="393380" y="5878961"/>
            <a:ext cx="3656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333" dirty="0">
                <a:solidFill>
                  <a:srgbClr val="39393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804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9B812DC-4A29-FE0C-9FCB-DB737E3FAA6C}"/>
              </a:ext>
            </a:extLst>
          </p:cNvPr>
          <p:cNvSpPr/>
          <p:nvPr/>
        </p:nvSpPr>
        <p:spPr>
          <a:xfrm>
            <a:off x="611030" y="488447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4532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A47489F-3EE6-45A3-83C6-DF7EC4EC8E68}"/>
              </a:ext>
            </a:extLst>
          </p:cNvPr>
          <p:cNvSpPr/>
          <p:nvPr/>
        </p:nvSpPr>
        <p:spPr>
          <a:xfrm>
            <a:off x="489140" y="2469131"/>
            <a:ext cx="4997418" cy="3331225"/>
          </a:xfrm>
          <a:prstGeom prst="rect">
            <a:avLst/>
          </a:prstGeom>
          <a:solidFill>
            <a:schemeClr val="accent1"/>
          </a:solidFill>
          <a:ln w="25400">
            <a:noFill/>
            <a:prstDash val="solid"/>
          </a:ln>
        </p:spPr>
        <p:txBody>
          <a:bodyPr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4266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5331C8C-24B4-2099-01DB-023D4596E597}"/>
              </a:ext>
            </a:extLst>
          </p:cNvPr>
          <p:cNvSpPr/>
          <p:nvPr/>
        </p:nvSpPr>
        <p:spPr>
          <a:xfrm>
            <a:off x="854806" y="2661734"/>
            <a:ext cx="4753642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2666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88% adoptando IA</a:t>
            </a:r>
            <a:endParaRPr lang="es-CO" sz="2666" dirty="0">
              <a:solidFill>
                <a:srgbClr val="FFFFFF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907299-5A6F-8DAA-7F6B-9C5C684B5431}"/>
              </a:ext>
            </a:extLst>
          </p:cNvPr>
          <p:cNvSpPr/>
          <p:nvPr/>
        </p:nvSpPr>
        <p:spPr>
          <a:xfrm>
            <a:off x="671974" y="2956289"/>
            <a:ext cx="4509865" cy="280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2000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62% 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en experimentación (</a:t>
            </a:r>
            <a:r>
              <a:rPr lang="es-CO" sz="1733" dirty="0" err="1">
                <a:solidFill>
                  <a:srgbClr val="FFFFFF"/>
                </a:solidFill>
                <a:latin typeface="Arial" charset="0"/>
                <a:ea typeface="ＭＳ Ｐゴシック" charset="0"/>
              </a:rPr>
              <a:t>Stages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1-2)</a:t>
            </a: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2000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31% 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industrializando (</a:t>
            </a:r>
            <a:r>
              <a:rPr lang="es-CO" sz="1733" dirty="0" err="1">
                <a:solidFill>
                  <a:srgbClr val="FFFFFF"/>
                </a:solidFill>
                <a:latin typeface="Arial" charset="0"/>
                <a:ea typeface="ＭＳ Ｐゴシック" charset="0"/>
              </a:rPr>
              <a:t>Stage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3)</a:t>
            </a: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Solo</a:t>
            </a:r>
            <a:r>
              <a:rPr lang="es-CO" sz="2000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7%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AI Future-</a:t>
            </a:r>
            <a:r>
              <a:rPr lang="es-CO" sz="1733" dirty="0" err="1">
                <a:solidFill>
                  <a:srgbClr val="FFFFFF"/>
                </a:solidFill>
                <a:latin typeface="Arial" charset="0"/>
                <a:ea typeface="ＭＳ Ｐゴシック" charset="0"/>
              </a:rPr>
              <a:t>Ready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(</a:t>
            </a:r>
            <a:r>
              <a:rPr lang="es-CO" sz="1733" dirty="0" err="1">
                <a:solidFill>
                  <a:srgbClr val="FFFFFF"/>
                </a:solidFill>
                <a:latin typeface="Arial" charset="0"/>
                <a:ea typeface="ＭＳ Ｐゴシック" charset="0"/>
              </a:rPr>
              <a:t>Stage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4)</a:t>
            </a:r>
          </a:p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1733" dirty="0">
              <a:solidFill>
                <a:srgbClr val="FFFFFF"/>
              </a:solidFill>
              <a:latin typeface="Arial" charset="0"/>
              <a:ea typeface="ＭＳ Ｐゴシック" charset="0"/>
            </a:endParaRPr>
          </a:p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733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Pero solo 6% alcanza impacto mayor a 5% en EBIT</a:t>
            </a:r>
            <a:endParaRPr lang="es-CO" sz="1733" dirty="0">
              <a:solidFill>
                <a:srgbClr val="FFFFFF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1D8A059-44D5-78C4-8ED6-1402C719AD75}"/>
              </a:ext>
            </a:extLst>
          </p:cNvPr>
          <p:cNvSpPr/>
          <p:nvPr/>
        </p:nvSpPr>
        <p:spPr>
          <a:xfrm>
            <a:off x="6339777" y="2469130"/>
            <a:ext cx="5241195" cy="3331226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4266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F3E8C1-E1D3-0C72-B7AB-AB8D06506AA1}"/>
              </a:ext>
            </a:extLst>
          </p:cNvPr>
          <p:cNvSpPr/>
          <p:nvPr/>
        </p:nvSpPr>
        <p:spPr>
          <a:xfrm>
            <a:off x="6644496" y="2661734"/>
            <a:ext cx="4753642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2666" b="1" dirty="0">
                <a:solidFill>
                  <a:srgbClr val="FFCC00"/>
                </a:solidFill>
                <a:latin typeface="Arial" charset="0"/>
                <a:ea typeface="ＭＳ Ｐゴシック" charset="0"/>
              </a:rPr>
              <a:t>Diferenciadores de Éxito</a:t>
            </a:r>
            <a:endParaRPr lang="es-CO" sz="2666" dirty="0">
              <a:solidFill>
                <a:srgbClr val="FFCC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C1F7588-0851-D065-FCAB-71762D1FDEEB}"/>
              </a:ext>
            </a:extLst>
          </p:cNvPr>
          <p:cNvSpPr/>
          <p:nvPr/>
        </p:nvSpPr>
        <p:spPr>
          <a:xfrm>
            <a:off x="6583553" y="2814094"/>
            <a:ext cx="5241195" cy="3169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Reorganización de flujos de trabajo</a:t>
            </a:r>
            <a:endParaRPr lang="es-CO" sz="1733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Gobierno con autoridad de decisión</a:t>
            </a:r>
            <a:endParaRPr lang="es-CO" sz="1733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Métricas diferenciadas</a:t>
            </a:r>
            <a:endParaRPr lang="es-CO" sz="1733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Inversión </a:t>
            </a:r>
            <a:r>
              <a:rPr lang="es-CO" sz="1733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70% personas/procesos</a:t>
            </a: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,  </a:t>
            </a:r>
          </a:p>
          <a:p>
            <a:pPr defTabSz="60801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                      </a:t>
            </a:r>
            <a:r>
              <a:rPr lang="es-CO" sz="1733" b="1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30% </a:t>
            </a:r>
            <a:r>
              <a:rPr lang="es-CO" sz="1733" dirty="0" err="1">
                <a:solidFill>
                  <a:srgbClr val="FFFFFF"/>
                </a:solidFill>
                <a:latin typeface="Arial" charset="0"/>
                <a:ea typeface="ＭＳ Ｐゴシック" charset="0"/>
              </a:rPr>
              <a:t>tech</a:t>
            </a:r>
            <a:endParaRPr lang="es-CO" sz="1733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39E3C13-3FE2-4657-49DF-1CC9DB54CC9E}"/>
              </a:ext>
            </a:extLst>
          </p:cNvPr>
          <p:cNvSpPr/>
          <p:nvPr/>
        </p:nvSpPr>
        <p:spPr>
          <a:xfrm>
            <a:off x="9374030" y="6328152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Fuente: McKinsey </a:t>
            </a:r>
            <a:r>
              <a:rPr lang="es-CO" sz="1200" i="1" dirty="0" err="1">
                <a:solidFill>
                  <a:srgbClr val="64748B"/>
                </a:solidFill>
                <a:latin typeface="Arial" charset="0"/>
                <a:ea typeface="ＭＳ Ｐゴシック" charset="0"/>
              </a:rPr>
              <a:t>State</a:t>
            </a: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 </a:t>
            </a:r>
            <a:r>
              <a:rPr lang="es-CO" sz="1200" i="1" dirty="0" err="1">
                <a:solidFill>
                  <a:srgbClr val="64748B"/>
                </a:solidFill>
                <a:latin typeface="Arial" charset="0"/>
                <a:ea typeface="ＭＳ Ｐゴシック" charset="0"/>
              </a:rPr>
              <a:t>of</a:t>
            </a: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 AI (2025))</a:t>
            </a:r>
            <a:endParaRPr lang="es-CO" sz="1200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19903C7-A95C-1381-8A90-9E4D353FC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140" y="1336390"/>
            <a:ext cx="7562191" cy="578596"/>
          </a:xfrm>
        </p:spPr>
        <p:txBody>
          <a:bodyPr>
            <a:normAutofit fontScale="90000"/>
          </a:bodyPr>
          <a:lstStyle/>
          <a:p>
            <a:r>
              <a:rPr lang="es-CO" dirty="0"/>
              <a:t>La Brecha: Solo 6% Logra Valor Empresarial</a:t>
            </a:r>
            <a:br>
              <a:rPr lang="es-CO" dirty="0"/>
            </a:br>
            <a:endParaRPr lang="es-CO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1806ACC-99E8-1475-0FB1-C89451F84763}"/>
              </a:ext>
            </a:extLst>
          </p:cNvPr>
          <p:cNvSpPr/>
          <p:nvPr/>
        </p:nvSpPr>
        <p:spPr>
          <a:xfrm>
            <a:off x="123557" y="6433597"/>
            <a:ext cx="3656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333" dirty="0">
                <a:solidFill>
                  <a:srgbClr val="39393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5159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nimBg="1"/>
      <p:bldP spid="9" grpId="0" uiExpand="1" build="p" bldLvl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1B892FB-0A87-4FF0-C407-9E5CC7AF4E16}"/>
              </a:ext>
            </a:extLst>
          </p:cNvPr>
          <p:cNvSpPr/>
          <p:nvPr/>
        </p:nvSpPr>
        <p:spPr>
          <a:xfrm>
            <a:off x="430101" y="582977"/>
            <a:ext cx="11331798" cy="5331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 defTabSz="608013" fontAlgn="base">
              <a:lnSpc>
                <a:spcPts val="41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749" kern="0" spc="-113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Niveles de adopción de la IA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2922DA-121C-89AC-810A-E004C4D27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35" y="3545155"/>
            <a:ext cx="12217393" cy="3809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369B258-AF5E-6B81-05D5-9E82014B2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617" y="2411976"/>
            <a:ext cx="19045" cy="1161747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0D88FAF-7DFB-8C40-42FE-5970DC23F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004" y="3497543"/>
            <a:ext cx="123793" cy="123793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411CE196-62A5-90CC-69F9-9D63DA623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263" y="3545156"/>
            <a:ext cx="19045" cy="1161747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A68D24A-090E-CCEC-29BF-1191A53A9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651" y="3497543"/>
            <a:ext cx="114270" cy="123793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F4731EF3-647A-69C5-B8CB-0A2E2CC0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814" y="2411976"/>
            <a:ext cx="19045" cy="1161747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FF190228-7B9C-359E-E0A0-DC0B20778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202" y="3497543"/>
            <a:ext cx="123793" cy="123793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64A5BDBB-EDAE-FF5C-2853-9CF484E81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364" y="3545156"/>
            <a:ext cx="19045" cy="1161747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CDCADC3C-D9E7-AF2F-91D9-581CC6C0DE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753" y="3497543"/>
            <a:ext cx="123793" cy="123793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5F29D1C5-D89F-CBA0-071F-574C7141B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011" y="2411976"/>
            <a:ext cx="19045" cy="1161747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DA0C9E07-F6CF-079A-31A2-D1EBDE763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397" y="3497543"/>
            <a:ext cx="114270" cy="123793"/>
          </a:xfrm>
          <a:prstGeom prst="rect">
            <a:avLst/>
          </a:prstGeom>
        </p:spPr>
      </p:pic>
      <p:sp>
        <p:nvSpPr>
          <p:cNvPr id="15" name="Shape 1">
            <a:extLst>
              <a:ext uri="{FF2B5EF4-FFF2-40B4-BE49-F238E27FC236}">
                <a16:creationId xmlns:a16="http://schemas.microsoft.com/office/drawing/2014/main" id="{A28587EA-042B-D4E6-0CFB-E3724D37ECDB}"/>
              </a:ext>
            </a:extLst>
          </p:cNvPr>
          <p:cNvSpPr/>
          <p:nvPr/>
        </p:nvSpPr>
        <p:spPr>
          <a:xfrm>
            <a:off x="1844428" y="2288117"/>
            <a:ext cx="133315" cy="133315"/>
          </a:xfrm>
          <a:prstGeom prst="ellipse">
            <a:avLst/>
          </a:prstGeom>
          <a:solidFill>
            <a:srgbClr val="62A8BB"/>
          </a:solidFill>
          <a:ln>
            <a:miter lim="800000"/>
          </a:ln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4B0E19D-A1AA-CEE5-C4F7-EAA9D6DC14FD}"/>
              </a:ext>
            </a:extLst>
          </p:cNvPr>
          <p:cNvSpPr/>
          <p:nvPr/>
        </p:nvSpPr>
        <p:spPr>
          <a:xfrm>
            <a:off x="2073054" y="2239864"/>
            <a:ext cx="1883970" cy="2302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8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IA EXPLORATORIA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3838967-87F0-2A2A-5045-5F2971DA3DD9}"/>
              </a:ext>
            </a:extLst>
          </p:cNvPr>
          <p:cNvSpPr/>
          <p:nvPr/>
        </p:nvSpPr>
        <p:spPr>
          <a:xfrm>
            <a:off x="2073054" y="2555958"/>
            <a:ext cx="1809279" cy="4265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679"/>
              </a:lnSpc>
              <a:spcBef>
                <a:spcPts val="663"/>
              </a:spcBef>
              <a:spcAft>
                <a:spcPct val="0"/>
              </a:spcAft>
            </a:pP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Experimentación y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capacitación en IA</a:t>
            </a:r>
            <a:endParaRPr lang="en-US" sz="3199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0AC86AD-55F2-7C73-D899-EA1C0895951D}"/>
              </a:ext>
            </a:extLst>
          </p:cNvPr>
          <p:cNvSpPr/>
          <p:nvPr/>
        </p:nvSpPr>
        <p:spPr>
          <a:xfrm>
            <a:off x="3754057" y="4687759"/>
            <a:ext cx="133315" cy="133315"/>
          </a:xfrm>
          <a:prstGeom prst="ellipse">
            <a:avLst/>
          </a:prstGeom>
          <a:solidFill>
            <a:srgbClr val="4F93AF"/>
          </a:solidFill>
          <a:ln>
            <a:miter lim="800000"/>
          </a:ln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5003061-B56B-47D8-82D8-6BF1D5B850EF}"/>
              </a:ext>
            </a:extLst>
          </p:cNvPr>
          <p:cNvSpPr/>
          <p:nvPr/>
        </p:nvSpPr>
        <p:spPr>
          <a:xfrm>
            <a:off x="3982637" y="4639539"/>
            <a:ext cx="1975691" cy="2302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8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IA IMPLEMENTADA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2E33D82-E9A1-C40C-20E5-277A17333A04}"/>
              </a:ext>
            </a:extLst>
          </p:cNvPr>
          <p:cNvSpPr/>
          <p:nvPr/>
        </p:nvSpPr>
        <p:spPr>
          <a:xfrm>
            <a:off x="3982637" y="4955633"/>
            <a:ext cx="1894915" cy="639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679"/>
              </a:lnSpc>
              <a:spcBef>
                <a:spcPts val="663"/>
              </a:spcBef>
              <a:spcAft>
                <a:spcPct val="0"/>
              </a:spcAft>
            </a:pP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Sistemas de IA en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producción con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prácticas adecuadas</a:t>
            </a:r>
            <a:endParaRPr lang="en-US" sz="3199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BEDAC7A8-95CA-CDAC-8CC0-FB344A2A04EC}"/>
              </a:ext>
            </a:extLst>
          </p:cNvPr>
          <p:cNvSpPr/>
          <p:nvPr/>
        </p:nvSpPr>
        <p:spPr>
          <a:xfrm>
            <a:off x="5663521" y="2288117"/>
            <a:ext cx="133315" cy="133315"/>
          </a:xfrm>
          <a:prstGeom prst="ellipse">
            <a:avLst/>
          </a:prstGeom>
          <a:solidFill>
            <a:srgbClr val="3B7FA4"/>
          </a:solidFill>
          <a:ln>
            <a:miter lim="800000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30F5EFF-7A0E-1A52-8718-61ACB4C7E80E}"/>
              </a:ext>
            </a:extLst>
          </p:cNvPr>
          <p:cNvSpPr/>
          <p:nvPr/>
        </p:nvSpPr>
        <p:spPr>
          <a:xfrm>
            <a:off x="5892219" y="2239864"/>
            <a:ext cx="1828291" cy="2302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8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IA ALINEADA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777D7D8-18C4-9FA3-B6A0-02BBBE2946FC}"/>
              </a:ext>
            </a:extLst>
          </p:cNvPr>
          <p:cNvSpPr/>
          <p:nvPr/>
        </p:nvSpPr>
        <p:spPr>
          <a:xfrm>
            <a:off x="5892218" y="2555958"/>
            <a:ext cx="1903230" cy="639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679"/>
              </a:lnSpc>
              <a:spcBef>
                <a:spcPts val="663"/>
              </a:spcBef>
              <a:spcAft>
                <a:spcPct val="0"/>
              </a:spcAft>
            </a:pP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Integración de IA en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servicios comerciales y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ROI positivo</a:t>
            </a:r>
            <a:endParaRPr lang="en-US" sz="3199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7D40DBE-F21D-51D2-7E74-BB96ECE59213}"/>
              </a:ext>
            </a:extLst>
          </p:cNvPr>
          <p:cNvSpPr/>
          <p:nvPr/>
        </p:nvSpPr>
        <p:spPr>
          <a:xfrm>
            <a:off x="7573149" y="4687759"/>
            <a:ext cx="133315" cy="133315"/>
          </a:xfrm>
          <a:prstGeom prst="ellipse">
            <a:avLst/>
          </a:prstGeom>
          <a:solidFill>
            <a:srgbClr val="286A98"/>
          </a:solidFill>
          <a:ln>
            <a:miter lim="800000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82A5967-B120-C190-4BDF-2875EE8610D8}"/>
              </a:ext>
            </a:extLst>
          </p:cNvPr>
          <p:cNvSpPr/>
          <p:nvPr/>
        </p:nvSpPr>
        <p:spPr>
          <a:xfrm>
            <a:off x="7801802" y="4639539"/>
            <a:ext cx="1828291" cy="2302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8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IA ESCALADA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D71F23D8-5A28-8272-32A8-70DF70F837F0}"/>
              </a:ext>
            </a:extLst>
          </p:cNvPr>
          <p:cNvSpPr/>
          <p:nvPr/>
        </p:nvSpPr>
        <p:spPr>
          <a:xfrm>
            <a:off x="7801801" y="4955634"/>
            <a:ext cx="1900256" cy="85305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679"/>
              </a:lnSpc>
              <a:spcBef>
                <a:spcPts val="663"/>
              </a:spcBef>
              <a:spcAft>
                <a:spcPct val="0"/>
              </a:spcAft>
            </a:pP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IA a escala con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resultados repetibles e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integrada en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operaciones</a:t>
            </a:r>
            <a:endParaRPr lang="en-US" sz="3199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65C447FA-576F-F555-C440-7F2B274F7EF9}"/>
              </a:ext>
            </a:extLst>
          </p:cNvPr>
          <p:cNvSpPr/>
          <p:nvPr/>
        </p:nvSpPr>
        <p:spPr>
          <a:xfrm>
            <a:off x="9482778" y="2288117"/>
            <a:ext cx="133315" cy="133315"/>
          </a:xfrm>
          <a:prstGeom prst="ellipse">
            <a:avLst/>
          </a:prstGeom>
          <a:solidFill>
            <a:srgbClr val="14558C"/>
          </a:solidFill>
          <a:ln>
            <a:miter lim="800000"/>
          </a:ln>
        </p:spPr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10A31908-C145-BA6E-6073-F7DC95A39891}"/>
              </a:ext>
            </a:extLst>
          </p:cNvPr>
          <p:cNvSpPr/>
          <p:nvPr/>
        </p:nvSpPr>
        <p:spPr>
          <a:xfrm>
            <a:off x="9711385" y="2239863"/>
            <a:ext cx="1828291" cy="4605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813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IA PREPARADA</a:t>
            </a:r>
            <a:b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</a:br>
            <a:r>
              <a:rPr lang="en-US" sz="1440" dirty="0">
                <a:solidFill>
                  <a:srgbClr val="5454E9"/>
                </a:solidFill>
                <a:latin typeface="Arial" panose="020B0604020202020204" pitchFamily="34" charset="0"/>
                <a:ea typeface="Montserrat Medium" pitchFamily="34" charset="-122"/>
                <a:cs typeface="Arial" panose="020B0604020202020204" pitchFamily="34" charset="0"/>
              </a:rPr>
              <a:t>PARA EL FUTURO</a:t>
            </a:r>
            <a:endParaRPr lang="en-US" sz="3199" dirty="0">
              <a:solidFill>
                <a:srgbClr val="5454E9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6A0D6217-2DEF-2E75-4DCA-466C4A2D69B4}"/>
              </a:ext>
            </a:extLst>
          </p:cNvPr>
          <p:cNvSpPr/>
          <p:nvPr/>
        </p:nvSpPr>
        <p:spPr>
          <a:xfrm>
            <a:off x="9711383" y="2786251"/>
            <a:ext cx="1897776" cy="639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defTabSz="608013" fontAlgn="base">
              <a:lnSpc>
                <a:spcPts val="1679"/>
              </a:lnSpc>
              <a:spcBef>
                <a:spcPts val="663"/>
              </a:spcBef>
              <a:spcAft>
                <a:spcPct val="0"/>
              </a:spcAft>
            </a:pP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Éxito impulsado por IA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y adaptación a largo</a:t>
            </a:r>
            <a:b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5A5A4C"/>
                </a:solidFill>
                <a:latin typeface="Arial" panose="020B0604020202020204" pitchFamily="34" charset="0"/>
                <a:ea typeface="Montserrat Regular" pitchFamily="34" charset="-122"/>
                <a:cs typeface="Arial" panose="020B0604020202020204" pitchFamily="34" charset="0"/>
              </a:rPr>
              <a:t>plazo</a:t>
            </a:r>
            <a:endParaRPr lang="en-US" sz="3199" dirty="0">
              <a:solidFill>
                <a:prstClr val="black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AFEB223C-FF75-0FA2-D54B-8E761D99275E}"/>
              </a:ext>
            </a:extLst>
          </p:cNvPr>
          <p:cNvSpPr txBox="1">
            <a:spLocks/>
          </p:cNvSpPr>
          <p:nvPr/>
        </p:nvSpPr>
        <p:spPr>
          <a:xfrm>
            <a:off x="6225050" y="6570943"/>
            <a:ext cx="7446818" cy="33927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608013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8013" indent="-150813" algn="l" defTabSz="608013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7613" indent="-303213" algn="l" defTabSz="608013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5625" indent="-454025" algn="l" defTabSz="608013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5225" indent="-606425" algn="l" defTabSz="608013" rtl="0" fontAlgn="base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3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Fuente: CMU Software </a:t>
            </a:r>
            <a:r>
              <a:rPr lang="es-CO" sz="100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00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Accenture - AI </a:t>
            </a:r>
            <a:r>
              <a:rPr lang="es-CO" sz="100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00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Maturity</a:t>
            </a:r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00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s-CO" sz="1000" i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(Diciembre 2025),</a:t>
            </a:r>
          </a:p>
          <a:p>
            <a:endParaRPr lang="es-CO" sz="105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A59CEE8-3071-4C45-BFBD-70D7BC169E46}"/>
              </a:ext>
            </a:extLst>
          </p:cNvPr>
          <p:cNvSpPr/>
          <p:nvPr/>
        </p:nvSpPr>
        <p:spPr>
          <a:xfrm>
            <a:off x="123557" y="6433597"/>
            <a:ext cx="3656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333" dirty="0">
                <a:solidFill>
                  <a:prstClr val="black">
                    <a:lumMod val="60000"/>
                    <a:lumOff val="40000"/>
                  </a:prstClr>
                </a:solidFill>
                <a:latin typeface="Arial" charset="0"/>
                <a:ea typeface="ＭＳ Ｐゴシック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4706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62EB893-123A-D4F4-CEED-0E2746C566B8}"/>
              </a:ext>
            </a:extLst>
          </p:cNvPr>
          <p:cNvSpPr/>
          <p:nvPr/>
        </p:nvSpPr>
        <p:spPr>
          <a:xfrm>
            <a:off x="8587889" y="2571383"/>
            <a:ext cx="1376847" cy="151280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endParaRPr lang="es-CO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D0BC9CD-2875-93A0-9AF5-595888702C6A}"/>
              </a:ext>
            </a:extLst>
          </p:cNvPr>
          <p:cNvSpPr/>
          <p:nvPr/>
        </p:nvSpPr>
        <p:spPr>
          <a:xfrm>
            <a:off x="3810661" y="2483066"/>
            <a:ext cx="1421731" cy="169981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endParaRPr lang="es-CO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99540A-69D4-118F-A432-2E57221758AB}"/>
              </a:ext>
            </a:extLst>
          </p:cNvPr>
          <p:cNvSpPr/>
          <p:nvPr/>
        </p:nvSpPr>
        <p:spPr>
          <a:xfrm>
            <a:off x="1535579" y="2502086"/>
            <a:ext cx="1666691" cy="156444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endParaRPr lang="es-CO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1F4B840-147B-EB20-F610-9D55FF6FC5FD}"/>
              </a:ext>
            </a:extLst>
          </p:cNvPr>
          <p:cNvSpPr/>
          <p:nvPr/>
        </p:nvSpPr>
        <p:spPr>
          <a:xfrm>
            <a:off x="1651502" y="2735417"/>
            <a:ext cx="1434842" cy="44580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Sensibilización</a:t>
            </a:r>
            <a:endParaRPr lang="es-CO" sz="12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90D6BA6-031B-788A-E817-82CEB62A6047}"/>
              </a:ext>
            </a:extLst>
          </p:cNvPr>
          <p:cNvSpPr/>
          <p:nvPr/>
        </p:nvSpPr>
        <p:spPr>
          <a:xfrm>
            <a:off x="3894285" y="2749530"/>
            <a:ext cx="1241165" cy="3122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Estrategia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F9A672A-4E06-D1D2-55F1-4ED8E7E28C8A}"/>
              </a:ext>
            </a:extLst>
          </p:cNvPr>
          <p:cNvSpPr/>
          <p:nvPr/>
        </p:nvSpPr>
        <p:spPr>
          <a:xfrm>
            <a:off x="3882877" y="3181222"/>
            <a:ext cx="1222365" cy="3142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ID. Dolores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558563C-8A81-A9A2-7963-117586B5596E}"/>
              </a:ext>
            </a:extLst>
          </p:cNvPr>
          <p:cNvSpPr/>
          <p:nvPr/>
        </p:nvSpPr>
        <p:spPr>
          <a:xfrm>
            <a:off x="6096001" y="2555110"/>
            <a:ext cx="1190307" cy="29862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FFFFFF"/>
                </a:solidFill>
                <a:latin typeface="Arial"/>
                <a:cs typeface="Arial" panose="020B0604020202020204" pitchFamily="34" charset="0"/>
                <a:sym typeface="Arial"/>
              </a:rPr>
              <a:t>Prototipo 1</a:t>
            </a:r>
            <a:endParaRPr lang="es-CO" sz="1400" kern="0" dirty="0">
              <a:solidFill>
                <a:srgbClr val="FFFFFF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A478C48-9330-A1AD-05D9-CE170FD57B75}"/>
              </a:ext>
            </a:extLst>
          </p:cNvPr>
          <p:cNvSpPr/>
          <p:nvPr/>
        </p:nvSpPr>
        <p:spPr>
          <a:xfrm>
            <a:off x="6092283" y="2979110"/>
            <a:ext cx="1194024" cy="2521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FFFFFF"/>
                </a:solidFill>
                <a:latin typeface="Arial"/>
                <a:cs typeface="Arial" panose="020B0604020202020204" pitchFamily="34" charset="0"/>
                <a:sym typeface="Arial"/>
              </a:rPr>
              <a:t>Prototipo 2</a:t>
            </a:r>
            <a:endParaRPr lang="es-CO" sz="1400" kern="0" dirty="0">
              <a:solidFill>
                <a:srgbClr val="FFFFFF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6A4C857-6473-BDF9-5571-C55316ABAE6D}"/>
              </a:ext>
            </a:extLst>
          </p:cNvPr>
          <p:cNvSpPr/>
          <p:nvPr/>
        </p:nvSpPr>
        <p:spPr>
          <a:xfrm>
            <a:off x="6074104" y="3387357"/>
            <a:ext cx="1212203" cy="2928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FFFFFF"/>
                </a:solidFill>
                <a:latin typeface="Arial"/>
                <a:cs typeface="Arial" panose="020B0604020202020204" pitchFamily="34" charset="0"/>
                <a:sym typeface="Arial"/>
              </a:rPr>
              <a:t>Prototipo 3</a:t>
            </a:r>
            <a:endParaRPr lang="es-CO" sz="1400" kern="0" dirty="0">
              <a:solidFill>
                <a:srgbClr val="FFFFFF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01A38C6-4A91-C539-8959-A16C90DE66B0}"/>
              </a:ext>
            </a:extLst>
          </p:cNvPr>
          <p:cNvSpPr/>
          <p:nvPr/>
        </p:nvSpPr>
        <p:spPr>
          <a:xfrm>
            <a:off x="8709616" y="2929928"/>
            <a:ext cx="1133390" cy="3142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Políticas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0799E7E-0975-EB87-38E2-1C9121FCB20D}"/>
              </a:ext>
            </a:extLst>
          </p:cNvPr>
          <p:cNvSpPr/>
          <p:nvPr/>
        </p:nvSpPr>
        <p:spPr>
          <a:xfrm>
            <a:off x="8721767" y="3398551"/>
            <a:ext cx="1133390" cy="3237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BPR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353C26E-473B-ADE1-9338-2DC896553F60}"/>
              </a:ext>
            </a:extLst>
          </p:cNvPr>
          <p:cNvSpPr/>
          <p:nvPr/>
        </p:nvSpPr>
        <p:spPr>
          <a:xfrm>
            <a:off x="381059" y="5672344"/>
            <a:ext cx="11254830" cy="28523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600" kern="0" dirty="0">
                <a:solidFill>
                  <a:srgbClr val="FFFFFF"/>
                </a:solidFill>
                <a:latin typeface="Arial"/>
                <a:cs typeface="Arial" panose="020B0604020202020204" pitchFamily="34" charset="0"/>
                <a:sym typeface="Arial"/>
              </a:rPr>
              <a:t>Gobierno de la IA : Estrategia, Riesgo, estructura </a:t>
            </a:r>
            <a:endParaRPr lang="es-CO" sz="1600" kern="0" dirty="0">
              <a:solidFill>
                <a:srgbClr val="FFFFFF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1EEE755-5894-8A61-2D6C-8D4E90558CB5}"/>
              </a:ext>
            </a:extLst>
          </p:cNvPr>
          <p:cNvSpPr/>
          <p:nvPr/>
        </p:nvSpPr>
        <p:spPr>
          <a:xfrm>
            <a:off x="1653126" y="3400972"/>
            <a:ext cx="1392695" cy="4958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Conceptos básicos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34717C-05C4-FF0E-0B26-E52204FA4EE4}"/>
              </a:ext>
            </a:extLst>
          </p:cNvPr>
          <p:cNvSpPr txBox="1"/>
          <p:nvPr/>
        </p:nvSpPr>
        <p:spPr>
          <a:xfrm>
            <a:off x="4394543" y="390529"/>
            <a:ext cx="3395481" cy="584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>
              <a:buClr>
                <a:srgbClr val="000000"/>
              </a:buClr>
            </a:pPr>
            <a:r>
              <a:rPr lang="es-ES" sz="3199" kern="0" dirty="0">
                <a:solidFill>
                  <a:srgbClr val="5454E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Ruta de adopción</a:t>
            </a:r>
            <a:endParaRPr lang="es-CO" sz="3199" kern="0" dirty="0">
              <a:solidFill>
                <a:srgbClr val="5454E9"/>
              </a:solidFill>
              <a:latin typeface="Arial"/>
              <a:ea typeface="ＭＳ Ｐゴシック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42495AB-D4DE-7BC1-CEC5-E59367F21D8A}"/>
              </a:ext>
            </a:extLst>
          </p:cNvPr>
          <p:cNvSpPr/>
          <p:nvPr/>
        </p:nvSpPr>
        <p:spPr>
          <a:xfrm>
            <a:off x="6096001" y="3825408"/>
            <a:ext cx="1190305" cy="24111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FFFFFF"/>
                </a:solidFill>
                <a:latin typeface="Arial"/>
                <a:cs typeface="Arial" panose="020B0604020202020204" pitchFamily="34" charset="0"/>
                <a:sym typeface="Arial"/>
              </a:rPr>
              <a:t>Prototipo 4</a:t>
            </a:r>
            <a:endParaRPr lang="es-CO" sz="1400" kern="0" dirty="0">
              <a:solidFill>
                <a:srgbClr val="FFFFFF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3031218-EA72-0FEF-D2D7-2797F8D579C1}"/>
              </a:ext>
            </a:extLst>
          </p:cNvPr>
          <p:cNvSpPr txBox="1"/>
          <p:nvPr/>
        </p:nvSpPr>
        <p:spPr>
          <a:xfrm>
            <a:off x="1345176" y="1962574"/>
            <a:ext cx="2016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600" kern="0" dirty="0">
                <a:solidFill>
                  <a:srgbClr val="393939">
                    <a:lumMod val="75000"/>
                  </a:srgbClr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Capacitación</a:t>
            </a:r>
            <a:endParaRPr lang="es-CO" sz="1600" kern="0" dirty="0">
              <a:solidFill>
                <a:srgbClr val="393939">
                  <a:lumMod val="75000"/>
                </a:srgbClr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50BAD1-E522-205D-A97A-0A7BD943D2A4}"/>
              </a:ext>
            </a:extLst>
          </p:cNvPr>
          <p:cNvSpPr txBox="1"/>
          <p:nvPr/>
        </p:nvSpPr>
        <p:spPr>
          <a:xfrm>
            <a:off x="3409043" y="2005496"/>
            <a:ext cx="2187134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6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Experimentación</a:t>
            </a:r>
            <a:endParaRPr lang="es-CO" sz="16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836753-08F7-FA22-7451-0841A771A931}"/>
              </a:ext>
            </a:extLst>
          </p:cNvPr>
          <p:cNvSpPr txBox="1"/>
          <p:nvPr/>
        </p:nvSpPr>
        <p:spPr>
          <a:xfrm>
            <a:off x="4502611" y="2066317"/>
            <a:ext cx="4418081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6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Priorización y Viabilidad</a:t>
            </a:r>
            <a:endParaRPr lang="es-CO" sz="16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0D061A8-FE16-5C9E-CDF2-DC1C408F3B74}"/>
              </a:ext>
            </a:extLst>
          </p:cNvPr>
          <p:cNvSpPr txBox="1"/>
          <p:nvPr/>
        </p:nvSpPr>
        <p:spPr>
          <a:xfrm>
            <a:off x="8215066" y="2105981"/>
            <a:ext cx="2187134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6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Escalabilidad</a:t>
            </a:r>
            <a:endParaRPr lang="es-CO" sz="16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FC68534-6618-3270-CD51-A856F3116788}"/>
              </a:ext>
            </a:extLst>
          </p:cNvPr>
          <p:cNvSpPr/>
          <p:nvPr/>
        </p:nvSpPr>
        <p:spPr>
          <a:xfrm>
            <a:off x="1587" y="1138582"/>
            <a:ext cx="12188826" cy="23973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endParaRPr lang="es-CO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093EE9A-EE08-CE38-2A41-F0A627FABCEE}"/>
              </a:ext>
            </a:extLst>
          </p:cNvPr>
          <p:cNvSpPr txBox="1"/>
          <p:nvPr/>
        </p:nvSpPr>
        <p:spPr>
          <a:xfrm>
            <a:off x="1554143" y="4439951"/>
            <a:ext cx="1598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2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Equipo directivo capacitado</a:t>
            </a:r>
            <a:endParaRPr lang="es-CO" sz="12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3DF883B-7883-A69D-EE33-ED67806C080B}"/>
              </a:ext>
            </a:extLst>
          </p:cNvPr>
          <p:cNvSpPr txBox="1"/>
          <p:nvPr/>
        </p:nvSpPr>
        <p:spPr>
          <a:xfrm>
            <a:off x="3730559" y="4354811"/>
            <a:ext cx="1598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2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Iniciar procesos de experimentación </a:t>
            </a:r>
            <a:endParaRPr lang="es-CO" sz="12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08446F4-BF4C-6A55-11D0-0E682301D2A0}"/>
              </a:ext>
            </a:extLst>
          </p:cNvPr>
          <p:cNvSpPr txBox="1"/>
          <p:nvPr/>
        </p:nvSpPr>
        <p:spPr>
          <a:xfrm>
            <a:off x="5533892" y="4428506"/>
            <a:ext cx="21187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2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Desarrollar prototipos</a:t>
            </a:r>
            <a:endParaRPr lang="es-CO" sz="12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4C92B27-A660-9D0C-119D-0B22CB575049}"/>
              </a:ext>
            </a:extLst>
          </p:cNvPr>
          <p:cNvSpPr txBox="1"/>
          <p:nvPr/>
        </p:nvSpPr>
        <p:spPr>
          <a:xfrm>
            <a:off x="8263873" y="4413556"/>
            <a:ext cx="2118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buClr>
                <a:srgbClr val="000000"/>
              </a:buClr>
            </a:pPr>
            <a:r>
              <a:rPr lang="es-ES" sz="1200" b="1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NIVEL 2. </a:t>
            </a:r>
          </a:p>
          <a:p>
            <a:pPr algn="ctr" defTabSz="914126">
              <a:buClr>
                <a:srgbClr val="000000"/>
              </a:buClr>
            </a:pPr>
            <a:r>
              <a:rPr lang="es-ES" sz="1200" kern="0" dirty="0">
                <a:solidFill>
                  <a:srgbClr val="393939"/>
                </a:solidFill>
                <a:latin typeface="Arial"/>
                <a:ea typeface="ＭＳ Ｐゴシック" charset="0"/>
                <a:cs typeface="Arial" panose="020B0604020202020204" pitchFamily="34" charset="0"/>
                <a:sym typeface="Arial"/>
              </a:rPr>
              <a:t>IA IMPLEMENTADA</a:t>
            </a:r>
            <a:endParaRPr lang="es-CO" sz="1200" kern="0" dirty="0">
              <a:solidFill>
                <a:srgbClr val="000000"/>
              </a:solidFill>
              <a:latin typeface="Arial"/>
              <a:ea typeface="ＭＳ Ｐゴシック" charset="0"/>
              <a:cs typeface="Arial"/>
              <a:sym typeface="Arial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9F2BE77-AA2B-2E8B-B0A1-6F97DE2F3212}"/>
              </a:ext>
            </a:extLst>
          </p:cNvPr>
          <p:cNvSpPr/>
          <p:nvPr/>
        </p:nvSpPr>
        <p:spPr>
          <a:xfrm>
            <a:off x="3902998" y="3640463"/>
            <a:ext cx="1241165" cy="3122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srgbClr val="000000"/>
              </a:buClr>
            </a:pPr>
            <a:r>
              <a:rPr lang="es-ES" sz="1400" kern="0" dirty="0">
                <a:solidFill>
                  <a:srgbClr val="5454E9"/>
                </a:solidFill>
                <a:latin typeface="Arial"/>
                <a:cs typeface="Arial" panose="020B0604020202020204" pitchFamily="34" charset="0"/>
                <a:sym typeface="Arial"/>
              </a:rPr>
              <a:t>Diagnóstico</a:t>
            </a:r>
            <a:endParaRPr lang="es-CO" sz="1400" kern="0" dirty="0">
              <a:solidFill>
                <a:srgbClr val="5454E9"/>
              </a:solidFill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374EDF3C-5695-FED9-D7D1-7D77EC28ABDB}"/>
              </a:ext>
            </a:extLst>
          </p:cNvPr>
          <p:cNvSpPr/>
          <p:nvPr/>
        </p:nvSpPr>
        <p:spPr>
          <a:xfrm>
            <a:off x="7652676" y="3244170"/>
            <a:ext cx="611196" cy="3578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endParaRPr lang="es-CO" sz="3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F9BD502-0D0D-4787-78E2-FA142CE2E40D}"/>
              </a:ext>
            </a:extLst>
          </p:cNvPr>
          <p:cNvSpPr/>
          <p:nvPr/>
        </p:nvSpPr>
        <p:spPr>
          <a:xfrm rot="5400000">
            <a:off x="1995796" y="5174550"/>
            <a:ext cx="461665" cy="3266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endParaRPr lang="es-CO" sz="3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CBE3EF38-2534-8B79-FEFE-6627B908A469}"/>
              </a:ext>
            </a:extLst>
          </p:cNvPr>
          <p:cNvSpPr/>
          <p:nvPr/>
        </p:nvSpPr>
        <p:spPr>
          <a:xfrm rot="5400000">
            <a:off x="4284034" y="5155161"/>
            <a:ext cx="461665" cy="3266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endParaRPr lang="es-CO" sz="3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9C0B3DF2-B626-7140-0910-67FFF195A527}"/>
              </a:ext>
            </a:extLst>
          </p:cNvPr>
          <p:cNvSpPr/>
          <p:nvPr/>
        </p:nvSpPr>
        <p:spPr>
          <a:xfrm rot="5400000">
            <a:off x="6449372" y="5139183"/>
            <a:ext cx="461665" cy="3266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endParaRPr lang="es-CO" sz="3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C2136F30-1879-9E04-111F-4637E5955826}"/>
              </a:ext>
            </a:extLst>
          </p:cNvPr>
          <p:cNvSpPr/>
          <p:nvPr/>
        </p:nvSpPr>
        <p:spPr>
          <a:xfrm rot="5400000">
            <a:off x="9092432" y="5118667"/>
            <a:ext cx="461665" cy="3266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013" fontAlgn="base">
              <a:spcBef>
                <a:spcPct val="0"/>
              </a:spcBef>
              <a:spcAft>
                <a:spcPct val="0"/>
              </a:spcAft>
            </a:pPr>
            <a:endParaRPr lang="es-CO" sz="320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114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07EA9C-F302-54BF-0C8C-EB08E3CA0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8100" y="4396979"/>
            <a:ext cx="10515600" cy="1500187"/>
          </a:xfrm>
        </p:spPr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FE11F21-E37C-9B2B-D775-468724A15B04}"/>
              </a:ext>
            </a:extLst>
          </p:cNvPr>
          <p:cNvSpPr/>
          <p:nvPr/>
        </p:nvSpPr>
        <p:spPr>
          <a:xfrm>
            <a:off x="611030" y="488447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4532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001C58C-379B-B1D1-D6C3-6248A7075C9E}"/>
              </a:ext>
            </a:extLst>
          </p:cNvPr>
          <p:cNvSpPr/>
          <p:nvPr/>
        </p:nvSpPr>
        <p:spPr>
          <a:xfrm>
            <a:off x="1207706" y="2108541"/>
            <a:ext cx="9130412" cy="3784489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endParaRPr lang="es-CO" sz="4266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DC09A22-4C43-9EFF-CEF5-2135C504901D}"/>
              </a:ext>
            </a:extLst>
          </p:cNvPr>
          <p:cNvSpPr/>
          <p:nvPr/>
        </p:nvSpPr>
        <p:spPr>
          <a:xfrm>
            <a:off x="1512426" y="2063724"/>
            <a:ext cx="4753642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2666" b="1" dirty="0">
                <a:solidFill>
                  <a:srgbClr val="FFCC00"/>
                </a:solidFill>
                <a:latin typeface="Arial" charset="0"/>
                <a:ea typeface="ＭＳ Ｐゴシック" charset="0"/>
              </a:rPr>
              <a:t>Recomendaciones</a:t>
            </a:r>
            <a:endParaRPr lang="es-CO" sz="2666" dirty="0">
              <a:solidFill>
                <a:srgbClr val="FFCC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AF27C25-7570-9FFB-EEA6-378AEE64C73D}"/>
              </a:ext>
            </a:extLst>
          </p:cNvPr>
          <p:cNvSpPr/>
          <p:nvPr/>
        </p:nvSpPr>
        <p:spPr>
          <a:xfrm>
            <a:off x="1451482" y="2909285"/>
            <a:ext cx="8886637" cy="3169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Definir un comité que se encargue de acompañar el proceso de adopción (actualización, estructura, políticas, etc.).</a:t>
            </a:r>
          </a:p>
          <a:p>
            <a:pPr defTabSz="608013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 </a:t>
            </a: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Iniciar con los pilotos</a:t>
            </a:r>
          </a:p>
          <a:p>
            <a:pPr marL="1065099" lvl="1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Centralizar el registro de los pilotos ( 3 a 4 meses de desarrollo)</a:t>
            </a:r>
          </a:p>
          <a:p>
            <a:pPr marL="1065099" lvl="1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Definir principios básicos ( seguridad, entornos de trabajo, riesgos, criterios de priorización)</a:t>
            </a:r>
          </a:p>
          <a:p>
            <a:pPr marL="1065099" lvl="1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Definir indicadores claros</a:t>
            </a:r>
          </a:p>
          <a:p>
            <a:pPr marL="1065099" lvl="1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Evaluar e iterar la estrategia, estructura, política etc.</a:t>
            </a:r>
          </a:p>
          <a:p>
            <a:pPr marL="608013" lvl="1" defTabSz="608013" fontAlgn="base">
              <a:spcBef>
                <a:spcPct val="0"/>
              </a:spcBef>
              <a:spcAft>
                <a:spcPct val="0"/>
              </a:spcAft>
              <a:buSzPct val="100000"/>
            </a:pPr>
            <a:endParaRPr lang="es-CO" sz="1733" dirty="0">
              <a:solidFill>
                <a:srgbClr val="FFFFFF"/>
              </a:solidFill>
              <a:latin typeface="Arial" charset="0"/>
              <a:ea typeface="ＭＳ Ｐゴシック" charset="0"/>
            </a:endParaRP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r>
              <a:rPr lang="es-CO" sz="1733" dirty="0">
                <a:solidFill>
                  <a:srgbClr val="FFFFFF"/>
                </a:solidFill>
                <a:latin typeface="Arial" charset="0"/>
                <a:ea typeface="ＭＳ Ｐゴシック" charset="0"/>
              </a:rPr>
              <a:t>Desarrollar estrategias de formación continua</a:t>
            </a: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endParaRPr lang="es-CO" sz="1733" dirty="0">
              <a:solidFill>
                <a:srgbClr val="FFFFFF"/>
              </a:solidFill>
              <a:latin typeface="Arial" charset="0"/>
              <a:ea typeface="ＭＳ Ｐゴシック" charset="0"/>
            </a:endParaRPr>
          </a:p>
          <a:p>
            <a:pPr marL="457086" indent="-457086" defTabSz="608013" fontAlgn="base"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</a:pPr>
            <a:endParaRPr lang="es-CO" sz="1733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6193DA0-FF91-D8E1-FE57-9B02F56FF7E3}"/>
              </a:ext>
            </a:extLst>
          </p:cNvPr>
          <p:cNvSpPr/>
          <p:nvPr/>
        </p:nvSpPr>
        <p:spPr>
          <a:xfrm>
            <a:off x="9374030" y="6328152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Fuente: McKinsey </a:t>
            </a:r>
            <a:r>
              <a:rPr lang="es-CO" sz="1200" i="1" dirty="0" err="1">
                <a:solidFill>
                  <a:srgbClr val="64748B"/>
                </a:solidFill>
                <a:latin typeface="Arial" charset="0"/>
                <a:ea typeface="ＭＳ Ｐゴシック" charset="0"/>
              </a:rPr>
              <a:t>State</a:t>
            </a: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 </a:t>
            </a:r>
            <a:r>
              <a:rPr lang="es-CO" sz="1200" i="1" dirty="0" err="1">
                <a:solidFill>
                  <a:srgbClr val="64748B"/>
                </a:solidFill>
                <a:latin typeface="Arial" charset="0"/>
                <a:ea typeface="ＭＳ Ｐゴシック" charset="0"/>
              </a:rPr>
              <a:t>of</a:t>
            </a:r>
            <a:r>
              <a:rPr lang="es-CO" sz="1200" i="1" dirty="0">
                <a:solidFill>
                  <a:srgbClr val="64748B"/>
                </a:solidFill>
                <a:latin typeface="Arial" charset="0"/>
                <a:ea typeface="ＭＳ Ｐゴシック" charset="0"/>
              </a:rPr>
              <a:t> AI (2025))</a:t>
            </a:r>
            <a:endParaRPr lang="es-CO" sz="1200" dirty="0">
              <a:solidFill>
                <a:srgbClr val="393939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A200D93F-05A4-E487-7483-F1045D16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56" y="964970"/>
            <a:ext cx="9904411" cy="578596"/>
          </a:xfrm>
        </p:spPr>
        <p:txBody>
          <a:bodyPr>
            <a:normAutofit fontScale="90000"/>
          </a:bodyPr>
          <a:lstStyle/>
          <a:p>
            <a:r>
              <a:rPr lang="es-ES" dirty="0"/>
              <a:t>Nivel 1. Iniciando la exploración </a:t>
            </a:r>
            <a:endParaRPr lang="es-CO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7059456-6F6A-B9C3-BF50-7B32CEA81D21}"/>
              </a:ext>
            </a:extLst>
          </p:cNvPr>
          <p:cNvSpPr/>
          <p:nvPr/>
        </p:nvSpPr>
        <p:spPr>
          <a:xfrm>
            <a:off x="123557" y="6433597"/>
            <a:ext cx="3656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08013" fontAlgn="base">
              <a:spcBef>
                <a:spcPct val="0"/>
              </a:spcBef>
              <a:spcAft>
                <a:spcPct val="0"/>
              </a:spcAft>
            </a:pPr>
            <a:r>
              <a:rPr lang="es-CO" sz="1333" dirty="0">
                <a:solidFill>
                  <a:srgbClr val="39393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961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5631281-F339-C744-661E-D2B83F81C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FFF7CC3C-8AF0-84EA-3B0B-7CF8B261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4" name="Picture 2" descr="10in x 2.5in Black Cursive In God We Trust Sticker Vinyl Vehicle Stickers">
            <a:extLst>
              <a:ext uri="{FF2B5EF4-FFF2-40B4-BE49-F238E27FC236}">
                <a16:creationId xmlns:a16="http://schemas.microsoft.com/office/drawing/2014/main" id="{0C56DF62-798E-0FE3-7620-E586F2A5A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908" y="3027467"/>
            <a:ext cx="7697144" cy="118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53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1">
            <a:extLst>
              <a:ext uri="{FF2B5EF4-FFF2-40B4-BE49-F238E27FC236}">
                <a16:creationId xmlns:a16="http://schemas.microsoft.com/office/drawing/2014/main" id="{505B2332-B5B7-EDDE-2C13-2DC49B32E6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AE7C2DBD-AD32-18F2-2A24-7E440726AE7C}"/>
              </a:ext>
            </a:extLst>
          </p:cNvPr>
          <p:cNvSpPr txBox="1"/>
          <p:nvPr/>
        </p:nvSpPr>
        <p:spPr>
          <a:xfrm>
            <a:off x="3506637" y="2778053"/>
            <a:ext cx="6297880" cy="1300017"/>
          </a:xfrm>
          <a:prstGeom prst="rect">
            <a:avLst/>
          </a:prstGeom>
          <a:noFill/>
        </p:spPr>
        <p:txBody>
          <a:bodyPr wrap="square" lIns="68562" tIns="34281" rIns="68562" bIns="34281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086" fontAlgn="base">
              <a:spcBef>
                <a:spcPct val="0"/>
              </a:spcBef>
              <a:spcAft>
                <a:spcPct val="0"/>
              </a:spcAft>
            </a:pPr>
            <a:r>
              <a:rPr lang="en-US" sz="7998" b="1" dirty="0">
                <a:solidFill>
                  <a:srgbClr val="0070C0"/>
                </a:solidFill>
                <a:latin typeface="Montserrat"/>
              </a:rPr>
              <a:t>¡Gracias!</a:t>
            </a:r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91817601-8A1F-3CEF-E239-C6EA7C00D9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73501" y="499589"/>
            <a:ext cx="575998" cy="583902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136BEAC-F3E0-B6E7-49D0-9A483E823BED}"/>
              </a:ext>
            </a:extLst>
          </p:cNvPr>
          <p:cNvSpPr txBox="1"/>
          <p:nvPr/>
        </p:nvSpPr>
        <p:spPr>
          <a:xfrm>
            <a:off x="3249642" y="1473080"/>
            <a:ext cx="6297880" cy="2000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7" fontAlgn="base">
              <a:spcBef>
                <a:spcPct val="0"/>
              </a:spcBef>
              <a:spcAft>
                <a:spcPct val="0"/>
              </a:spcAft>
            </a:pPr>
            <a:r>
              <a:rPr lang="es-CO" sz="2799" dirty="0">
                <a:solidFill>
                  <a:srgbClr val="0070C0"/>
                </a:solidFill>
                <a:latin typeface="Arial" charset="0"/>
                <a:ea typeface="ＭＳ Ｐゴシック" charset="0"/>
              </a:rPr>
              <a:t>linkedin.com/in/</a:t>
            </a:r>
            <a:r>
              <a:rPr lang="es-CO" sz="2799" dirty="0" err="1">
                <a:solidFill>
                  <a:srgbClr val="0070C0"/>
                </a:solidFill>
                <a:latin typeface="Arial" charset="0"/>
                <a:ea typeface="ＭＳ Ｐゴシック" charset="0"/>
              </a:rPr>
              <a:t>armandoordonez</a:t>
            </a:r>
            <a:endParaRPr lang="es-CO" sz="2799" dirty="0">
              <a:solidFill>
                <a:srgbClr val="0070C0"/>
              </a:solidFill>
              <a:latin typeface="Arial" charset="0"/>
              <a:ea typeface="ＭＳ Ｐゴシック" charset="0"/>
            </a:endParaRPr>
          </a:p>
          <a:p>
            <a:pPr algn="ctr" defTabSz="609447" fontAlgn="base">
              <a:spcBef>
                <a:spcPct val="0"/>
              </a:spcBef>
              <a:spcAft>
                <a:spcPct val="0"/>
              </a:spcAft>
            </a:pPr>
            <a:endParaRPr lang="es-CO" sz="2399" dirty="0">
              <a:solidFill>
                <a:srgbClr val="0070C0"/>
              </a:solidFill>
              <a:latin typeface="Arial" charset="0"/>
              <a:ea typeface="ＭＳ Ｐゴシック" charset="0"/>
            </a:endParaRPr>
          </a:p>
          <a:p>
            <a:pPr algn="ctr" defTabSz="609447" fontAlgn="base">
              <a:spcBef>
                <a:spcPct val="0"/>
              </a:spcBef>
              <a:spcAft>
                <a:spcPct val="0"/>
              </a:spcAft>
            </a:pPr>
            <a:r>
              <a:rPr lang="es-CO" sz="2399" dirty="0">
                <a:solidFill>
                  <a:srgbClr val="0070C0"/>
                </a:solidFill>
                <a:latin typeface="Arial" charset="0"/>
                <a:ea typeface="ＭＳ Ｐゴシック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jaordonez@icesi.edu.co</a:t>
            </a:r>
            <a:endParaRPr lang="es-CO" sz="2399" dirty="0">
              <a:solidFill>
                <a:srgbClr val="0070C0"/>
              </a:solidFill>
              <a:latin typeface="Arial" charset="0"/>
              <a:ea typeface="ＭＳ Ｐゴシック" charset="0"/>
            </a:endParaRPr>
          </a:p>
          <a:p>
            <a:pPr algn="ctr" defTabSz="609447" fontAlgn="base">
              <a:spcBef>
                <a:spcPct val="0"/>
              </a:spcBef>
              <a:spcAft>
                <a:spcPct val="0"/>
              </a:spcAft>
            </a:pPr>
            <a:endParaRPr lang="es-CO" sz="2399" dirty="0">
              <a:solidFill>
                <a:srgbClr val="0070C0"/>
              </a:solidFill>
              <a:latin typeface="Arial" charset="0"/>
              <a:ea typeface="ＭＳ Ｐゴシック" charset="0"/>
            </a:endParaRPr>
          </a:p>
          <a:p>
            <a:pPr defTabSz="609447" fontAlgn="base">
              <a:spcBef>
                <a:spcPct val="0"/>
              </a:spcBef>
              <a:spcAft>
                <a:spcPct val="0"/>
              </a:spcAft>
            </a:pPr>
            <a:endParaRPr lang="es-CO" sz="2399" dirty="0">
              <a:solidFill>
                <a:srgbClr val="0070C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A586F1E2-314F-DF49-3398-B263BF7F5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517" y="4324114"/>
            <a:ext cx="1589688" cy="156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994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eCBKcTcspAOSjT0qVaAQ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obal Power Platform">
      <a:majorFont>
        <a:latin typeface="Oswald"/>
        <a:ea typeface=""/>
        <a:cs typeface=""/>
      </a:majorFont>
      <a:minorFont>
        <a:latin typeface="Oswa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88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1_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3dc2d4-9990-48de-9593-97e4a854a45f">
      <Terms xmlns="http://schemas.microsoft.com/office/infopath/2007/PartnerControls"/>
    </lcf76f155ced4ddcb4097134ff3c332f>
    <TaxCatchAll xmlns="563ab91c-d08d-4c33-9871-4cc4e409eaf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0FF3EF90365045B0C765F32BE82F47" ma:contentTypeVersion="13" ma:contentTypeDescription="Crear nuevo documento." ma:contentTypeScope="" ma:versionID="ff6d07b46bee36d50fb51a4d27c9da50">
  <xsd:schema xmlns:xsd="http://www.w3.org/2001/XMLSchema" xmlns:xs="http://www.w3.org/2001/XMLSchema" xmlns:p="http://schemas.microsoft.com/office/2006/metadata/properties" xmlns:ns2="863dc2d4-9990-48de-9593-97e4a854a45f" xmlns:ns3="563ab91c-d08d-4c33-9871-4cc4e409eafa" targetNamespace="http://schemas.microsoft.com/office/2006/metadata/properties" ma:root="true" ma:fieldsID="da13a3cb0be8a7b400e6630cee027f14" ns2:_="" ns3:_="">
    <xsd:import namespace="863dc2d4-9990-48de-9593-97e4a854a45f"/>
    <xsd:import namespace="563ab91c-d08d-4c33-9871-4cc4e409ea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dc2d4-9990-48de-9593-97e4a854a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ca3e406-81ba-4efa-b23b-ea891bb11d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ab91c-d08d-4c33-9871-4cc4e409eaf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624c55-55c1-45a0-a895-093290f10ed4}" ma:internalName="TaxCatchAll" ma:showField="CatchAllData" ma:web="563ab91c-d08d-4c33-9871-4cc4e409ea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D01A0D-88BE-4FA6-8586-487149ED62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9D9475-1AE1-45C8-B1D4-023D14BDD6BB}">
  <ds:schemaRefs>
    <ds:schemaRef ds:uri="http://schemas.microsoft.com/office/2006/metadata/properties"/>
    <ds:schemaRef ds:uri="http://schemas.microsoft.com/office/infopath/2007/PartnerControls"/>
    <ds:schemaRef ds:uri="863dc2d4-9990-48de-9593-97e4a854a45f"/>
    <ds:schemaRef ds:uri="563ab91c-d08d-4c33-9871-4cc4e409eafa"/>
  </ds:schemaRefs>
</ds:datastoreItem>
</file>

<file path=customXml/itemProps3.xml><?xml version="1.0" encoding="utf-8"?>
<ds:datastoreItem xmlns:ds="http://schemas.openxmlformats.org/officeDocument/2006/customXml" ds:itemID="{EF4DAD4A-8ED2-4AA2-8339-4D743A75C310}"/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446</Words>
  <Application>Microsoft Office PowerPoint</Application>
  <PresentationFormat>Panorámica</PresentationFormat>
  <Paragraphs>87</Paragraphs>
  <Slides>9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Graphik Black</vt:lpstr>
      <vt:lpstr>Montserrat</vt:lpstr>
      <vt:lpstr>Oswald</vt:lpstr>
      <vt:lpstr>Tema de Office</vt:lpstr>
      <vt:lpstr>Office Theme</vt:lpstr>
      <vt:lpstr>Interiores</vt:lpstr>
      <vt:lpstr>1_Interiores</vt:lpstr>
      <vt:lpstr>think-cell Slide</vt:lpstr>
      <vt:lpstr>Presentación de PowerPoint</vt:lpstr>
      <vt:lpstr>Presentación de PowerPoint</vt:lpstr>
      <vt:lpstr>Modelo de madurez de adopción de IA</vt:lpstr>
      <vt:lpstr>La Brecha: Solo 6% Logra Valor Empresarial </vt:lpstr>
      <vt:lpstr>Presentación de PowerPoint</vt:lpstr>
      <vt:lpstr>Presentación de PowerPoint</vt:lpstr>
      <vt:lpstr>Nivel 1. Iniciando la exploración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Álvaro Ignacio Rodríguez Lasso</dc:creator>
  <cp:lastModifiedBy>Jose Armando Ordoñez Cordoba</cp:lastModifiedBy>
  <cp:revision>97</cp:revision>
  <dcterms:created xsi:type="dcterms:W3CDTF">2023-06-14T01:28:16Z</dcterms:created>
  <dcterms:modified xsi:type="dcterms:W3CDTF">2026-02-18T19:32:58Z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0x010100850FF3EF90365045B0C765F32BE82F47</vt:lpwstr>
  </property>
  <property fmtid="{D5CDD505-2E9C-101B-9397-08002B2CF9AE}" pid="3" name="MediaServiceImageTags">
    <vt:lpwstr/>
  </property>
</Properties>
</file>